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9"/>
    <p:sldId id="260" r:id="rId6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cíle. Vymezit kategorii edukačních IS a odlišit ji od tří sousedních: komerční školní systémy (doména školy, ale uzavřené a žák pasivní), low-code nástroje (otevřené a aktivní, ale bez domény školy) a výukové platformy informatiky (algoritmizace, informační systémy jen okrajově) – podle účelu, role žáka, prostředí a otevřenosti. Navrhnout prototyp: doménový model věrný škole, otevřený, bezpečně resetovatelný, tři vrstvy hloubky – uživatelská pro 1. stupeň, konfigurační pro 2. stupeň, vývojářská pro SŠ – a připravit pracovní listy. Ověřit ho ve výuce. Předpoklad (v textu práce formulovaný jako výzkumná otázka): simulace správy školy dovede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Nejde o technickou práci: software je pomůcka, hlavní text je didaktický, technika je v přílohách. Druhý princip: jeden plnohodnotný systém se třemi vrstvami hloubky – systém zůstává, mění se kompetence žáka v čase. 1. stupeň – uživatelská vrstva: žák pozoruje, role jako pohled, zapíše známku (Bloom: zapamatovat, porozumět). 2. stupeň – konfigurační vrstva: žák jako správce zakládá třídy a předměty, řeší kolizi v rozvrhu (aplikovat, analyzovat). SŠ – vývojářská vrstva: žák jako spolutvůrce jde pod kapotu – ER diagram, API, vlastní modul (hodnotit, tvořit). Spirálové kurikulum: tatáž známka se vrací na vyšší úrovni abstrakce. Ke každému stupni je pracovní list s klíčem pro učitele. Přechod: a proč na to stačí jeden nástroj.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práce s chybou. Systém pracuje výhradně s fiktivními daty, která lze kdykoli přegenerovat, a každá cvičná škola má vlastní oddělený datový prostor a lze ji resetovat.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tento předpoklad podpořila. Další rozvoj: ověření na SŠ a 1. stupni a na více školách. Kód je otevřený na GitHubu pod organizací edustack-is a k systému jsem připravil doprovodný web is-edustack.org s dokumentací pro učitele.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Proč jeden nástroj. V běžné praxi by žák potřeboval tři prostředí – něco na algoritmy, něco na modelování dat, něco na správu systému – a v každém se znovu učit ovládání. Edu Stack IS pokrývá všechny fáze v jednom prostředí: tatáž škola, tytéž role a data. Nižší kognitivní zátěž – žák se neučí nový nástroj, ale nový pohled na známý systém. Tím zbývá víc času na obsah: role, oprávnění, datové toky. Porovnání vychází ze srovnávací tabulky v kapitole 5 práce. Přechod: aby to fungovalo, musí být dovoleno dělat chyby.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20" y="1764450"/>
            <a:ext cx="1310000" cy="16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291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Studijní program Informační technologie se zaměřením na vzdělávání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PhDr. Jakub Mazuch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školních systémů (Bakaláři, EduPage), od low-code nástrojů (Airtable, Notion) i od výukových platforem informatiky (Scratch, Umíme to). Čtyři kritéria: účel · role žáka · prostředí · otevřenost.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94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0320"/>
            <a:ext cx="7132320" cy="640080"/>
          </a:xfrm>
          <a:prstGeom prst="rect">
            <a:avLst/>
          </a:prstGeom>
          <a:noFill/>
          <a:ln/>
        </p:spPr>
        <p:txBody>
          <a:bodyPr numCol="2" spcCol="182880" wrap="square" lIns="0" tIns="0" rIns="0" bIns="0" rtlCol="0" anchor="t"/>
          <a:lstStyle/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doménový model věrný škole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systém (kód, datový model)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bezpečně resetovatelný sandbox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tři vrstvy hloubky: uživatelská · konfigurační · vývojářská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připravit pracovní listy pro podporu přípravy na výuku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46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50292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Řízená simulace správy školy dovede žáka od pasivního používání IS k porozumění jeho rolím, oprávněním a datovým tokům.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zůstává, roste žák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pomůcka; hlavní text práce popisuje role, procesy, úrovně a úlohy (technika je v přílohách A a B). Systém zůstává stejný – mění se jen to, co v něm žák smí a umí.</a:t>
            </a:r>
            <a:endParaRPr lang="en-US" sz="1300" dirty="0"/>
          </a:p>
        </p:txBody>
      </p:sp>
      <p:sp>
        <p:nvSpPr>
          <p:cNvPr id="301" name="Text 301"/>
          <p:cNvSpPr txBox="1"/>
          <p:nvPr/>
        </p:nvSpPr>
        <p:spPr>
          <a:xfrm>
            <a:off x="548640" y="224942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 · uživatelská vrstva</a:t>
            </a:r>
          </a:p>
        </p:txBody>
      </p:sp>
      <p:sp>
        <p:nvSpPr>
          <p:cNvPr id="302" name="Shape 302"/>
          <p:cNvSpPr/>
          <p:nvPr/>
        </p:nvSpPr>
        <p:spPr>
          <a:xfrm>
            <a:off x="548640" y="251460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B8B0D6"/>
          </a:solidFill>
          <a:ln>
            <a:noFill/>
          </a:ln>
        </p:spPr>
      </p:sp>
      <p:sp>
        <p:nvSpPr>
          <p:cNvPr id="303" name="Text 303"/>
          <p:cNvSpPr txBox="1"/>
          <p:nvPr/>
        </p:nvSpPr>
        <p:spPr>
          <a:xfrm>
            <a:off x="68580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uživatel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zapamatovat / porozumět</a:t>
            </a:r>
          </a:p>
        </p:txBody>
      </p:sp>
      <p:sp>
        <p:nvSpPr>
          <p:cNvPr id="304" name="Text 304"/>
          <p:cNvSpPr txBox="1"/>
          <p:nvPr/>
        </p:nvSpPr>
        <p:spPr>
          <a:xfrm>
            <a:off x="685800" y="3035808"/>
            <a:ext cx="22402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známky.</a:t>
            </a:r>
          </a:p>
        </p:txBody>
      </p:sp>
      <p:sp>
        <p:nvSpPr>
          <p:cNvPr id="305" name="Text 305"/>
          <p:cNvSpPr txBox="1"/>
          <p:nvPr/>
        </p:nvSpPr>
        <p:spPr>
          <a:xfrm>
            <a:off x="3246120" y="197510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 · konfigurační vrstva</a:t>
            </a:r>
          </a:p>
        </p:txBody>
      </p:sp>
      <p:sp>
        <p:nvSpPr>
          <p:cNvPr id="306" name="Shape 306"/>
          <p:cNvSpPr/>
          <p:nvPr/>
        </p:nvSpPr>
        <p:spPr>
          <a:xfrm>
            <a:off x="3246120" y="224028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8F7BCB"/>
          </a:solidFill>
          <a:ln>
            <a:noFill/>
          </a:ln>
        </p:spPr>
      </p:sp>
      <p:sp>
        <p:nvSpPr>
          <p:cNvPr id="307" name="Text 307"/>
          <p:cNvSpPr txBox="1"/>
          <p:nvPr/>
        </p:nvSpPr>
        <p:spPr>
          <a:xfrm>
            <a:off x="3383280" y="2350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správce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aplikovat / analyzovat</a:t>
            </a:r>
          </a:p>
        </p:txBody>
      </p:sp>
      <p:sp>
        <p:nvSpPr>
          <p:cNvPr id="308" name="Text 308"/>
          <p:cNvSpPr txBox="1"/>
          <p:nvPr/>
        </p:nvSpPr>
        <p:spPr>
          <a:xfrm>
            <a:off x="3383280" y="2761488"/>
            <a:ext cx="2240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 a předmětu, rozvrh s detekcí kolizí, AI asistent, impersonace.</a:t>
            </a:r>
          </a:p>
        </p:txBody>
      </p:sp>
      <p:sp>
        <p:nvSpPr>
          <p:cNvPr id="309" name="Text 309"/>
          <p:cNvSpPr txBox="1"/>
          <p:nvPr/>
        </p:nvSpPr>
        <p:spPr>
          <a:xfrm>
            <a:off x="5943600" y="170078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 · vývojářská vrstva</a:t>
            </a:r>
          </a:p>
        </p:txBody>
      </p:sp>
      <p:sp>
        <p:nvSpPr>
          <p:cNvPr id="310" name="Shape 310"/>
          <p:cNvSpPr/>
          <p:nvPr/>
        </p:nvSpPr>
        <p:spPr>
          <a:xfrm>
            <a:off x="5943600" y="1965960"/>
            <a:ext cx="2514600" cy="2057400"/>
          </a:xfrm>
          <a:prstGeom prst="roundRect">
            <a:avLst>
              <a:gd name="adj" fmla="val 6000"/>
            </a:avLst>
          </a:prstGeom>
          <a:solidFill>
            <a:srgbClr val="6544AF"/>
          </a:solidFill>
          <a:ln>
            <a:noFill/>
          </a:ln>
        </p:spPr>
      </p:sp>
      <p:sp>
        <p:nvSpPr>
          <p:cNvPr id="311" name="Text 311"/>
          <p:cNvSpPr txBox="1"/>
          <p:nvPr/>
        </p:nvSpPr>
        <p:spPr>
          <a:xfrm>
            <a:off x="6080760" y="207568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spolutvůrce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hodnotit / tvořit</a:t>
            </a:r>
          </a:p>
        </p:txBody>
      </p:sp>
      <p:sp>
        <p:nvSpPr>
          <p:cNvPr id="312" name="Text 312"/>
          <p:cNvSpPr txBox="1"/>
          <p:nvPr/>
        </p:nvSpPr>
        <p:spPr>
          <a:xfrm>
            <a:off x="6080760" y="2487168"/>
            <a:ext cx="224028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</a:p>
        </p:txBody>
      </p:sp>
      <p:sp>
        <p:nvSpPr>
          <p:cNvPr id="313" name="Text 313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</a:t>
            </a:r>
            <a:r>
              <a:rPr lang="cs-CZ" sz="10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spirálové kurikulum: tatáž známka se vrací v každém stupni na vyšší úrovni abstrakce · ke každému stupni pracovní list s klíčem pro učitele (Příloha C).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na pár kliků (stovky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cvičná škola má vlastní oddělený datový prostor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nejnižší role: co smím vidět a co 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Nasazení: 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Bezpečnost: 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otevřený na GitHubu (github.com/edustack-is), k systému vznikl doprovodný web is-edustack.org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r>
              <a:rPr lang="en-US" sz="1400" b="0" dirty="0">
                <a:solidFill>
                  <a:srgbClr val="6B6680"/>
                </a:solidFill>
                <a:latin typeface="Calibri" pitchFamily="34" charset="0"/>
              </a:rPr>
              <a:t xml:space="preserve">  · doplňující slide k diskusi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 pro všechny fáze učení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žák naučí o informačním systému v různých výukových nástrojích – a proč záleží na tom, že je to jeden nástroj.</a:t>
            </a:r>
            <a:endParaRPr lang="en-US" sz="1300" dirty="0"/>
          </a:p>
        </p:txBody>
      </p:sp>
      <p:sp>
        <p:nvSpPr>
          <p:cNvPr id="201" name="Shape 201"/>
          <p:cNvSpPr/>
          <p:nvPr/>
        </p:nvSpPr>
        <p:spPr>
          <a:xfrm>
            <a:off x="6858000" y="1463040"/>
            <a:ext cx="1737360" cy="2313432"/>
          </a:xfrm>
          <a:prstGeom prst="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02" name="Shape 202"/>
          <p:cNvSpPr/>
          <p:nvPr/>
        </p:nvSpPr>
        <p:spPr>
          <a:xfrm>
            <a:off x="6858000" y="1463040"/>
            <a:ext cx="1737360" cy="457200"/>
          </a:xfrm>
          <a:prstGeom prst="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38328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programování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Scratch, Umíme to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51206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Modelátory databází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Airtable, Notion, Coda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68580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edukační IS</a:t>
            </a:r>
          </a:p>
        </p:txBody>
      </p:sp>
      <p:cxnSp>
        <p:nvCxnSpPr>
          <p:cNvPr id="206" name="Line 206"/>
          <p:cNvCxnSpPr/>
          <p:nvPr/>
        </p:nvCxnSpPr>
        <p:spPr>
          <a:xfrm>
            <a:off x="548640" y="192024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07" name="Text 207"/>
          <p:cNvSpPr txBox="1"/>
          <p:nvPr/>
        </p:nvSpPr>
        <p:spPr>
          <a:xfrm>
            <a:off x="548640" y="192024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Doména školy (třídy, rozvrh, známky)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338328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12064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0" name="Text 210"/>
          <p:cNvSpPr txBox="1"/>
          <p:nvPr/>
        </p:nvSpPr>
        <p:spPr>
          <a:xfrm>
            <a:off x="685800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1" name="Line 211"/>
          <p:cNvCxnSpPr/>
          <p:nvPr/>
        </p:nvCxnSpPr>
        <p:spPr>
          <a:xfrm>
            <a:off x="548640" y="218541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2" name="Text 212"/>
          <p:cNvSpPr txBox="1"/>
          <p:nvPr/>
        </p:nvSpPr>
        <p:spPr>
          <a:xfrm>
            <a:off x="548640" y="218541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 oprávnění (RBAC)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38328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512064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685800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6" name="Line 216"/>
          <p:cNvCxnSpPr/>
          <p:nvPr/>
        </p:nvCxnSpPr>
        <p:spPr>
          <a:xfrm>
            <a:off x="548640" y="2450592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7" name="Text 217"/>
          <p:cNvSpPr txBox="1"/>
          <p:nvPr/>
        </p:nvSpPr>
        <p:spPr>
          <a:xfrm>
            <a:off x="548640" y="2450592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Viditelný datový model</a:t>
            </a:r>
          </a:p>
        </p:txBody>
      </p:sp>
      <p:sp>
        <p:nvSpPr>
          <p:cNvPr id="218" name="Text 218"/>
          <p:cNvSpPr txBox="1"/>
          <p:nvPr/>
        </p:nvSpPr>
        <p:spPr>
          <a:xfrm>
            <a:off x="338328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512064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85800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1" name="Line 221"/>
          <p:cNvCxnSpPr/>
          <p:nvPr/>
        </p:nvCxnSpPr>
        <p:spPr>
          <a:xfrm>
            <a:off x="548640" y="2715768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2" name="Text 222"/>
          <p:cNvSpPr txBox="1"/>
          <p:nvPr/>
        </p:nvSpPr>
        <p:spPr>
          <a:xfrm>
            <a:off x="548640" y="2715768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Bezpečné experimentování s daty</a:t>
            </a:r>
          </a:p>
        </p:txBody>
      </p:sp>
      <p:sp>
        <p:nvSpPr>
          <p:cNvPr id="223" name="Text 223"/>
          <p:cNvSpPr txBox="1"/>
          <p:nvPr/>
        </p:nvSpPr>
        <p:spPr>
          <a:xfrm>
            <a:off x="338328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4" name="Text 224"/>
          <p:cNvSpPr txBox="1"/>
          <p:nvPr/>
        </p:nvSpPr>
        <p:spPr>
          <a:xfrm>
            <a:off x="512064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5" name="Text 225"/>
          <p:cNvSpPr txBox="1"/>
          <p:nvPr/>
        </p:nvSpPr>
        <p:spPr>
          <a:xfrm>
            <a:off x="685800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6" name="Line 226"/>
          <p:cNvCxnSpPr/>
          <p:nvPr/>
        </p:nvCxnSpPr>
        <p:spPr>
          <a:xfrm>
            <a:off x="548640" y="2980944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7" name="Text 227"/>
          <p:cNvSpPr txBox="1"/>
          <p:nvPr/>
        </p:nvSpPr>
        <p:spPr>
          <a:xfrm>
            <a:off x="548640" y="2980944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kód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338328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 ano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512064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0" name="Text 230"/>
          <p:cNvSpPr txBox="1"/>
          <p:nvPr/>
        </p:nvSpPr>
        <p:spPr>
          <a:xfrm>
            <a:off x="685800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31" name="Line 231"/>
          <p:cNvCxnSpPr/>
          <p:nvPr/>
        </p:nvCxnSpPr>
        <p:spPr>
          <a:xfrm>
            <a:off x="548640" y="324612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2" name="Text 232"/>
          <p:cNvSpPr txBox="1"/>
          <p:nvPr/>
        </p:nvSpPr>
        <p:spPr>
          <a:xfrm>
            <a:off x="548640" y="324612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„Informační systémy“ v RVP</a:t>
            </a:r>
          </a:p>
        </p:txBody>
      </p:sp>
      <p:sp>
        <p:nvSpPr>
          <p:cNvPr id="233" name="Text 233"/>
          <p:cNvSpPr txBox="1"/>
          <p:nvPr/>
        </p:nvSpPr>
        <p:spPr>
          <a:xfrm>
            <a:off x="338328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okrajově</a:t>
            </a:r>
          </a:p>
        </p:txBody>
      </p:sp>
      <p:sp>
        <p:nvSpPr>
          <p:cNvPr id="234" name="Text 234"/>
          <p:cNvSpPr txBox="1"/>
          <p:nvPr/>
        </p:nvSpPr>
        <p:spPr>
          <a:xfrm>
            <a:off x="512064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5" name="Text 235"/>
          <p:cNvSpPr txBox="1"/>
          <p:nvPr/>
        </p:nvSpPr>
        <p:spPr>
          <a:xfrm>
            <a:off x="685800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přímo</a:t>
            </a:r>
          </a:p>
        </p:txBody>
      </p:sp>
      <p:cxnSp>
        <p:nvCxnSpPr>
          <p:cNvPr id="236" name="Line 236"/>
          <p:cNvCxnSpPr/>
          <p:nvPr/>
        </p:nvCxnSpPr>
        <p:spPr>
          <a:xfrm>
            <a:off x="548640" y="351129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7" name="Text 237"/>
          <p:cNvSpPr txBox="1"/>
          <p:nvPr/>
        </p:nvSpPr>
        <p:spPr>
          <a:xfrm>
            <a:off x="548640" y="351129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 → správce → spolutvůrce v jednom prostředí</a:t>
            </a:r>
          </a:p>
        </p:txBody>
      </p:sp>
      <p:sp>
        <p:nvSpPr>
          <p:cNvPr id="238" name="Text 238"/>
          <p:cNvSpPr txBox="1"/>
          <p:nvPr/>
        </p:nvSpPr>
        <p:spPr>
          <a:xfrm>
            <a:off x="338328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39" name="Text 239"/>
          <p:cNvSpPr txBox="1"/>
          <p:nvPr/>
        </p:nvSpPr>
        <p:spPr>
          <a:xfrm>
            <a:off x="512064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40" name="Text 240"/>
          <p:cNvSpPr txBox="1"/>
          <p:nvPr/>
        </p:nvSpPr>
        <p:spPr>
          <a:xfrm>
            <a:off x="685800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41" name="Shape 241"/>
          <p:cNvSpPr/>
          <p:nvPr/>
        </p:nvSpPr>
        <p:spPr>
          <a:xfrm>
            <a:off x="54864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64008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Tatáž škola, tytéž role a data ve všech fázích – od klikání po vlastní skript.</a:t>
            </a:r>
          </a:p>
        </p:txBody>
      </p:sp>
      <p:sp>
        <p:nvSpPr>
          <p:cNvPr id="243" name="Shape 243"/>
          <p:cNvSpPr/>
          <p:nvPr/>
        </p:nvSpPr>
        <p:spPr>
          <a:xfrm>
            <a:off x="326898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336042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Nižší kognitivní zátěž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se neučí v každé fázi nové prostředí, ale nový pohled na systém, který už zná.</a:t>
            </a:r>
          </a:p>
        </p:txBody>
      </p:sp>
      <p:sp>
        <p:nvSpPr>
          <p:cNvPr id="245" name="Shape 245"/>
          <p:cNvSpPr/>
          <p:nvPr/>
        </p:nvSpPr>
        <p:spPr>
          <a:xfrm>
            <a:off x="598932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46" name="Text 246"/>
          <p:cNvSpPr txBox="1"/>
          <p:nvPr/>
        </p:nvSpPr>
        <p:spPr>
          <a:xfrm>
            <a:off x="608076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Více prostoru pro obsah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ušetřený na ovládání zůstává na to podstatné: role, oprávnění, datové toky.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
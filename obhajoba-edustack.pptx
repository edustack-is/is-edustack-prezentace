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Dobrý den, jmenuji se Petr Vích a představím svou bakalářskou práci Informační systém pro podporu výuky informatiky. Výsledkem je Edu Stack IS – edukační informační systém, ve kterém žák není jen uživatel, ale správce fiktivní školy. Prezentace má 10 minut: východiska, cíle, tři didaktické principy, krátce architektura, ověření ve výuce a limity.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Východisko 1: téma školního IS ve výuce najdeme v literatuře už v roce 2007 (Dostál) – není to nový nápad, ale v české praxi chyběl nástroj, kde má žák plný přístup. Východisko 2: komerční školní systémy jsem si vzal jako VZOR, ne jako konkurenci. Žáci – i ti mladší – vědí, jak škola funguje, takže IS mohu vysvětlovat na známém příkladu a nemusím budovat doménové porozumění od nuly.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Tři dílčí cíle: (1) teoreticky vymezit kategorii edukačních IS, (2) navrhnout prototyp naplňující tuto kategorii včetně metodické podpory – pracovních listů, (3) ověřit ho přímo ve výuce. Výzkumná otázka: lze simulací správy školy dovést žáka od používání k porozumění rolím, oprávněním a datovým tokům.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Chci zdůraznit: nejde o technickou práci. Software je pomůcka; hlavní text je didaktický – role, procesy, úrovně, úlohy – a technika je v přílohách. Pedagogické jádro: posun po Bloomově taxonomii. V komerčním systému žák jen čte (zapamatovat, porozumět). V Edu Stack IS aplikuje a analyzuje (založí třídu, řeší kolizi) a na SŠ hodnotí a tvoří (navrhne modul, čte ER diagram).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Druhý princip: práce s chybou. Systém pracuje výhradně s fiktivními daty, která lze kdykoli přegenerovat, a každá třída má vlastní instanci s resetem. Když žák něco omylem smaže – nebo schválně v rámci úkolu – nic se neděje; naopak je to příležitost: proč to šlo smazat? kdo to mohl? co se ztratilo? V pilotáži se to potvrdilo – záměrná kolize v rozvrhu byla tématem diskuse, ne problémem.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Třetí princip: není to tři různé aplikace, ale jeden plnohodnotný systém se třemi vrstvami hloubky. Na 1. stupni žák pozoruje – role jako pohled. Na 2. stupni spravuje strukturu – třídy, předměty, rozvrh. Na SŠ jde pod kapotu – ER diagram, API, vlastní modul. Mění se jen kompetence žáka v čase, systém zůstává. Podle stupňů existují tři pracovní listy s klíčem pro učitele.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Rychle: šest rolí, každá učí něco jiného – admin bezpečnost tajných hodnot, zástupce plánování a kolize, učitel odpovědnost za data, rodič oprávnění. Databáze má přes 40 tabulek; didakticky jsem ji rozdělil do 8 domén, z nichž každá odpovídá jedné výukové otázce – učitel postupuje doménu po doméně jako kapitolami učebnice. Klíčové: vazby jsou viditelné – nový předmět se promítne do rozvrhu, klasifikace i úvazku.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Jen rychle, detaily nechám do dotazů. Webová aplikace: React frontend na Cloudflare Pages, NestJS backend s REST API, RBAC guardem a auditem, SQLite s čistým SQL (better-sqlite3). AI je záměrně oddělená vrstva – MCP server vystavuje nástroje jazykovým modelům a běží jen na loopbacku. Didakticky: monorepo je čitelné pro středoškoláky, multitenance dává každé třídě vlastní školu, a celé to lze spustit lokálně bez internetu.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Pilotáž: jedna vyučovací hodina, 16 žáků 9. třídy, role zástupce ředitele a učitel, tři pracovní listy. Klíčové číslo: 15 z 16 dokázalo aspoň částečně vysvětlit, proč každá role vidí jiná data – RBAC pochopili prožitkem, ne výkladem. 14 z 16 by chtělo pokračovat. Vzhled medián 9,5, snadnost 9,0. Nejvíc bavily známky a AI asistent. Technicky: 13 přihlášení hned, žádný pád, dva věcné podněty. Protestní odpověď jednoho žáka jsem v datech nechal a komentoval.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Osobní část. S výukou dětí jsem neměl zkušenost – mentoroval jsem dospělé, vedl skautský oddíl, ale ve škole to bylo poprvé. Z mého pohledu systém plní, k čemu byl navržen. Ale za jednu hodinu se plný potenciál využít nedá: třída nebyla zvyklá na tento styl práce, vysvětlování zabralo víc času než úlohy. A hlavně – žáci se báli klikat, aby něco nezkazili. To je paradox: sandbox je tu právě proto, aby se báli nemuseli, ale tu jistotu si musí nejdřív odžít. Poučení: úvodní kratší hodina o principu 'nic nezkazíš' a rozdělení úloh do více hodin.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Otevřeně k limitům – vedoucí je pojmenoval přesně. (1) Ověření jen na 2. stupni; SŠ pilotáž bych vedl na odborné škole s 3. listem a přesně popsal vzorek a podmínky. (2) Kurikulární analýza – pracoval jsem hlavně s RVP ZV, gymnaziální a odborné kurikulum si zaslouží samostatné zpracování. (3) Dotazník nebyl standardizovaný v metodologickém smyslu – správně 'vlastní strukturovaný'. (4) Rozpor v popisu MCP: autorizaci vynucuje backend – MCP nástroj volá REST API s oprávněními uživatele dané relace, MCP vrstva sama guard nemá. Formulaci v klíči listu sjednotím.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Shrnutí: vymezil jsem kategorii edukačních IS, postavil prototyp s metodikou a ověřil ho ve výuce; pilotáž potvrdila hlavní hypotézu. Další rozvoj: ověření na SŠ a 1. stupni a na více školách. Děkuji za pozornost a rád odpovím na otázky.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F2A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51435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88720"/>
            <a:ext cx="2103120" cy="25968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749040" y="91440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Informační systém pro podporu výuky informatiky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3749040" y="233172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– edukační sandbox, ve kterém se žák stává správcem školy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749040" y="34747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 Vích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Obhajoba bakalářské práce · B IT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Vedoucí: PhDr. Jakub Mazuch · Oponent: PhDr. Martin Beneš, Ph.D.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KITTV, Pedagogická fakulta UK · září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Myšlenka není nová – chyběla ale realizace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840480" cy="3291840"/>
          </a:xfrm>
          <a:prstGeom prst="roundRect">
            <a:avLst>
              <a:gd name="adj" fmla="val 3333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9844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Literatura: školní IS jako téma výuky (2007)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91640"/>
            <a:ext cx="351129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Dostál (2007) popisuje školní informační systémy jako integrovanou agendu školy – matriku, klasifikaci, rozvrh, komunikaci.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této linii chybí nástroj, do kterého by měl žák plný přístup a mohl v něm sám spravovat data, role a oprávnění. Přesně tuto mezeru práce vyplňuje.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840480" cy="3291840"/>
          </a:xfrm>
          <a:prstGeom prst="roundRect">
            <a:avLst>
              <a:gd name="adj" fmla="val 3333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919472" y="1298448"/>
            <a:ext cx="3511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Vzor, ne konkurence: Bakaláři, EduPage…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919472" y="1691640"/>
            <a:ext cx="351129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Komerční školní IS beru jako referenční rámec funkcí, nikoli jako srovnávací cíl.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Důvod je didaktický: žáci školu důvěrně znají – mají rozvrh, známky, omluvenky. Nemusím vysvětlovat doménu, mohu rovnou ukazovat, jak IS uvnitř funguje.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Cíle práce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48640" cy="548640"/>
          </a:xfrm>
          <a:prstGeom prst="ellipse">
            <a:avLst/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60" dirty="0"/>
          </a:p>
        </p:txBody>
      </p:sp>
      <p:sp>
        <p:nvSpPr>
          <p:cNvPr id="5" name="Text 3"/>
          <p:cNvSpPr txBox="1"/>
          <p:nvPr/>
        </p:nvSpPr>
        <p:spPr>
          <a:xfrm>
            <a:off x="1417320" y="12344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Vymezit kategorii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0020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Odlišit edukační IS od komerčních provozních systémů i od obecných výukových platforem (analýza podle 4 kritérií).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548640" cy="548640"/>
          </a:xfrm>
          <a:prstGeom prst="ellipse">
            <a:avLst/>
          </a:prstGeom>
          <a:solidFill>
            <a:srgbClr val="E24D8D"/>
          </a:solidFill>
          <a:ln w="12700">
            <a:solidFill>
              <a:srgbClr val="E24D8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6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28600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Navrhnout prototyp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265176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Doménově věrný škole, otevřený, bezpečně resetovatelný, přístupný ve třech vrstvách hloubky; doplnit pracovní listy.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429000"/>
            <a:ext cx="548640" cy="548640"/>
          </a:xfrm>
          <a:prstGeom prst="ellipse">
            <a:avLst/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6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6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3375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Ověřit ve výuce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703320"/>
            <a:ext cx="7132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Zjistit, zda navržené úlohy vedou k pochopení rolí, oprávnění a datových toků.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251960"/>
            <a:ext cx="8046720" cy="457200"/>
          </a:xfrm>
          <a:prstGeom prst="roundRect">
            <a:avLst>
              <a:gd name="adj" fmla="val 20000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4251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Výzkumná otázka: </a:t>
            </a:r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Lze řízenou simulací správy školy přivést žáka od pasivního používání IS k porozumění jeho rolím, oprávněním a datovým tokům?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je pomůcka, těžiště je didaktické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Hlavní text práce je pedagogický: role, procesy, úrovně, úlohy. Technologie jsou vyčleněny do příloh (uživatelská příručka A, technická příloha B).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B8B0D6"/>
          </a:solidFill>
          <a:ln w="12700">
            <a:solidFill>
              <a:srgbClr val="B8B0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312724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zapamatovat / porozumět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2044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čte známku, kterou eviduje někdo jiný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46120" y="25146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8F7BCB"/>
          </a:solidFill>
          <a:ln w="12700">
            <a:solidFill>
              <a:srgbClr val="8F7BC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83280" y="262432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aplikovat / analyzovat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301752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zakládá třídu, řeší kolizi v rozvrhu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0" y="2011680"/>
            <a:ext cx="2514600" cy="2331720"/>
          </a:xfrm>
          <a:prstGeom prst="roundRect">
            <a:avLst>
              <a:gd name="adj" fmla="val 3137"/>
            </a:avLst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80760" y="212140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hodnotit / tvořit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25146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navrhuje modul, čte ER diagram, volá API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697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Komerční ŠIS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16916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Posun po Bloomově taxonomii: od uživatele k modeláři a správci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Chyba je přirozená – když se s ní pracuje, učí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 fiktivní data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Žádné reálné osoby, žádné GDPR riziko. Cvičnou školu vygeneruje učitel jedním klikem (tisíce záznamů).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564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kdykoli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564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Každá třída má vlastní izolovanou instanci (multitenance). Po hodině se vrátí do výchozího stavu – beze stopy.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rgbClr val="FBE3EE"/>
          </a:solidFill>
          <a:ln w="12700">
            <a:solidFill>
              <a:srgbClr val="FBE3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99632" y="1298448"/>
            <a:ext cx="2231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24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„Zkus to rozbít“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199632" y="1691640"/>
            <a:ext cx="2231136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Omylem smazaný žák nebo záměrně vyvolaná kolize v rozvrhu je materiál k diskusi, ne provozní problém. Bezpečný reset dělá z chyby úlohu.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je podmínka experimentu: bez něj nelze žáka vyzvat, ať systém záměrně „rozbije“ – a právě to nejlépe odhaluje, jak funguje.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Jeden systém pro všechny – mění se jen kompetence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7EC3E4"/>
          </a:solidFill>
          <a:ln w="12700">
            <a:solidFill>
              <a:srgbClr val="7EC3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stupeň ZŠ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Uživatelská vrstva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606040" y="1234440"/>
            <a:ext cx="5989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jako pohled: přihlásím se jako žák, učitel, ředitel – co vidím a co smím? Zápis jedné známky, diskuse o odpovědnosti.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24028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stupeň ZŠ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Konfigurační vrstva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06040" y="2286000"/>
            <a:ext cx="5989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Struktura jako řemeslo: založení třídy, předmětu, rozvrh s detekcí kolizí, AI asistent, otázka impersonace.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24D8D"/>
          </a:solidFill>
          <a:ln w="12700">
            <a:solidFill>
              <a:srgbClr val="E24D8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329184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Střední škola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Vývojářská vrstva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606040" y="3337560"/>
            <a:ext cx="5989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jako platforma: ER diagram, REST a MCP API, vlastní skript, návrh nového modulu, šifrování a anonymizace.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43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Spirálové kurikulum: tatáž známka nebo rozvrh se vrací v každém stupni na vyšší úrovni abstrakce. Žák, který dnes klikne na známku, ji za pár let přečte ze svého skriptu – a pozná, že je to tatáž věc.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žák v systému potká: role a datové domény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Šest rolí – každá je vzdělávací příležitost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Systémový administrátor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provoz pro více škol, tajné klíče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Ředitel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pohled shora, bílá kniha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Zástupce ředitele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rozvrh, suplování, kolize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Učitel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známky, třídní kniha – odpovědnost za data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Rodič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a komu systém ukazuje</a:t>
            </a:r>
            <a:endParaRPr lang="en-US" sz="1200" dirty="0"/>
          </a:p>
          <a:p>
            <a:pPr marL="152400" indent="-152400">
              <a:buSzPct val="100000"/>
              <a:buChar char="•"/>
            </a:pPr>
            <a:r>
              <a:rPr lang="en-US" sz="1200" b="1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– </a:t>
            </a:r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„zdola“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 datových domén – každá má svou otázku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46304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46304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systém ví, kdo jsem?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720840" y="1463040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12280" y="146304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Akademická struktura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je škola organizována v čase?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221284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221284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Úvazky a prostory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Kdo a kde učí?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720840" y="2212848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2212848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Rozvrh a třídní kniha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děje v hodině?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4880" y="2962656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46320" y="296265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Docházka a klasifikace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měříme výsledky?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20840" y="2962656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12280" y="2962656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Plánování a materiály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učitel plánuje?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54880" y="3712464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371246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Komunikace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škola propojuje lidi?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20840" y="3712464"/>
            <a:ext cx="1828800" cy="658368"/>
          </a:xfrm>
          <a:prstGeom prst="roundRect">
            <a:avLst>
              <a:gd name="adj" fmla="val 11111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12280" y="3712464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a AI</a:t>
            </a:r>
            <a:endParaRPr lang="en-US" sz="1050" dirty="0"/>
          </a:p>
          <a:p>
            <a:pPr indent="0" marL="0">
              <a:buNone/>
            </a:pPr>
            <a:r>
              <a:rPr lang="en-US" sz="9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běží na pozadí?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je systém postavený (stručně)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7EC3E4"/>
          </a:solidFill>
          <a:ln w="12700">
            <a:solidFill>
              <a:srgbClr val="7EC3E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1371600"/>
            <a:ext cx="15179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Prohlížeč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žák · učitel · rodič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37744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34640" y="13716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6544AF"/>
          </a:solidFill>
          <a:ln w="12700">
            <a:solidFill>
              <a:srgbClr val="6544A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944368" y="13716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Vite · Tailwind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Pages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12080" y="1371600"/>
            <a:ext cx="1828800" cy="1005840"/>
          </a:xfrm>
          <a:prstGeom prst="roundRect">
            <a:avLst>
              <a:gd name="adj" fmla="val 9091"/>
            </a:avLst>
          </a:prstGeom>
          <a:solidFill>
            <a:srgbClr val="3F2A78"/>
          </a:solidFill>
          <a:ln w="12700">
            <a:solidFill>
              <a:srgbClr val="3F2A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21808" y="1371600"/>
            <a:ext cx="16093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REST API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NestJS · TypeScript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guard · audit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0" y="173736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589520" y="1371600"/>
            <a:ext cx="1005840" cy="1005840"/>
          </a:xfrm>
          <a:prstGeom prst="roundRect">
            <a:avLst>
              <a:gd name="adj" fmla="val 9091"/>
            </a:avLst>
          </a:prstGeom>
          <a:solidFill>
            <a:srgbClr val="8F7BCB"/>
          </a:solidFill>
          <a:ln w="12700">
            <a:solidFill>
              <a:srgbClr val="8F7BC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699248" y="1371600"/>
            <a:ext cx="7863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čisté SQL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better-sqlite3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212080" y="292608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24D8D"/>
          </a:solidFill>
          <a:ln w="12700">
            <a:solidFill>
              <a:srgbClr val="E24D8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21808" y="2926080"/>
            <a:ext cx="16093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nástroje pro AI agenty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SSE · jen loopback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589520" y="2926080"/>
            <a:ext cx="1005840" cy="914400"/>
          </a:xfrm>
          <a:prstGeom prst="roundRect">
            <a:avLst>
              <a:gd name="adj" fmla="val 10000"/>
            </a:avLst>
          </a:prstGeom>
          <a:solidFill>
            <a:srgbClr val="F28C28"/>
          </a:solidFill>
          <a:ln w="12700">
            <a:solidFill>
              <a:srgbClr val="F28C2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699248" y="2926080"/>
            <a:ext cx="7863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Gemini, OpenAI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132320" y="3246120"/>
            <a:ext cx="365760" cy="274320"/>
          </a:xfrm>
          <a:prstGeom prst="rightArrow">
            <a:avLst/>
          </a:prstGeom>
          <a:solidFill>
            <a:srgbClr val="C9BFE8"/>
          </a:solidFill>
          <a:ln w="12700">
            <a:solidFill>
              <a:srgbClr val="C9BF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126480" y="2377440"/>
            <a:ext cx="0" cy="548640"/>
          </a:xfrm>
          <a:prstGeom prst="line">
            <a:avLst/>
          </a:prstGeom>
          <a:noFill/>
          <a:ln w="25400">
            <a:solidFill>
              <a:srgbClr val="C9BFE8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548640" y="292608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Vrstva AI je záměrně mimo jádro – žák vidí, že AI je oddělená služba s vymezenými oprávněními, ne kouzelná část databáze.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9319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Monorepo: backend, frontend i MCP na jednom místě – čitelné pro SŠ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Multitenance: jedna instance, libovolně škol, izolovaná data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(Fly.io + Cloudflare) i lokální běh bez internetu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Hesla Argon2, citlivé sloupce šifrované, SSO Google/GitHub/Microsoft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Ověření ve výuce: 9. třída, 16 žáků, jedna hodina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zástupce ředitele a učitel · tři pracovní listy (matrika, rozvrh, AI asistent) · dotazník + řízená diskuse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544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vysvětlilo (aspoň částečně), proč žák nevidí stejná data jako učitel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6060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24D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26060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chce v systému pracovat i v dalších hodinách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8C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medián hodnocení vzhledu (škála 1–10)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720840" y="1600200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4CAF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720840" y="23774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medián snadnosti ovládání (škála 1–10)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3310128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žáky bavilo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70332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Známky (8 zmínek) a AI asistent (6) – „učesání“ slovního hodnocení bylo nejatraktivnější a zároveň otevřelo češtinu i etiku.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200400"/>
            <a:ext cx="3931920" cy="1417320"/>
          </a:xfrm>
          <a:prstGeom prst="roundRect">
            <a:avLst>
              <a:gd name="adj" fmla="val 7742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28032" y="3310128"/>
            <a:ext cx="3602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ukázalo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828032" y="370332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žáků se přihlásilo hned; žádný pád systému; dva věcné podněty (editace hodnocení, signalizace čekání na AI); jedna protestní odpověď v datech ponechána.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F2A7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Zkušenost z hodiny – pohled začínajícího učitele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Mentoroval jsem dospělé, roky vedl oddíl ve skautu – ale hodina s deváťáky byla moje první výuka dětí ve škole.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9019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Systém plní, k čemu byl navržen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žáci se přihlásili, pracovali s matrikou, známkami i AI a v diskusi vysvětlili oprávnění.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663440" y="18288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28032" y="19019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Jedna hodina nestačí na plný potenciál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třída na tento styl práce není zvyklá; víc času zabralo vysvětlování než samotné úlohy.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32735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Žáci se báli klikat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obava „abych něco nezkazil“ všechno protahovala – přesně to, co má sandbox odbourat. Chce to čas a opakování.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63440" y="3200400"/>
            <a:ext cx="3931920" cy="1234440"/>
          </a:xfrm>
          <a:prstGeom prst="roundRect">
            <a:avLst>
              <a:gd name="adj" fmla="val 7407"/>
            </a:avLst>
          </a:prstGeom>
          <a:solidFill>
            <a:srgbClr val="51398F"/>
          </a:solidFill>
          <a:ln w="12700">
            <a:solidFill>
              <a:srgbClr val="51398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28032" y="3273552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Poučení pro metodiku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E6E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začít kratší úvodní hodinou o principu sandboxu, úlohy 2. listu (rozvrh) přesunout do další hodiny.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9B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Limity práce a reakce na posudky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123444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Ověření jen na 2. stupni ZŠ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SŠ a 1. stupeň zůstaly neověřeny. Návrh: SŠ pilotáž se 3. listem na odborné škole (ER diagram, API), 1. stupeň zkrácený list „role jako pohled“; přesný popis vzorku a podmínek.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663440" y="114300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28032" y="123444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Kurikulární analýza a rešerše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Práce staví hlavně na RVP ZV; RVP G a SOV nejsou rozebrány samostatně a mapování materiálů má typologický charakter. Beru jako podnět pro rozšíření.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9260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30175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Dotazník „standardizovaný“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Přesnější je vlastní strukturovaný dotazník; pedagogický dotazník byl připraven, jeho výsledky nejsou v práci prezentovány.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663440" y="2926080"/>
            <a:ext cx="3931920" cy="1645920"/>
          </a:xfrm>
          <a:prstGeom prst="roundRect">
            <a:avLst>
              <a:gd name="adj" fmla="val 5556"/>
            </a:avLst>
          </a:prstGeom>
          <a:solidFill>
            <a:srgbClr val="F1EDFA"/>
          </a:solidFill>
          <a:ln w="12700">
            <a:solidFill>
              <a:srgbClr val="F1ED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28032" y="3017520"/>
            <a:ext cx="3611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Rozpor v popisu MCP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Autorizace je vynucována v backendu: každý MCP nástroj volá REST API s oprávněními uživatele dané AI relace; samotná MCP vrstva guard neobsahuje. Formulaci v klíči listu je třeba sjednotit.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F2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Závěr</a:t>
            </a:r>
            <a:endParaRPr lang="en-US" sz="3000" dirty="0"/>
          </a:p>
        </p:txBody>
      </p:sp>
      <p:pic>
        <p:nvPicPr>
          <p:cNvPr id="3" name="Image 0" descr="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188720"/>
            <a:ext cx="1737360" cy="213969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1188720"/>
            <a:ext cx="5943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Vymezena nová kategorie: edukační IS – doménově věrný, otevřený, sandboxový, vícevrstvý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Funkční prototyp Edu Stack IS + tři pracovní listy s klíčem pro učitele + dotazníky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Pilotáž potvrdila: prožitek role vede k pochopení oprávnění; simulace je srozumitelná a motivační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42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Další rozvoj: pilotáže na SŠ a 1. stupni, více škol, listy k bezpečnosti a GDPR, mobilní rozhraní, komunita učitelů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48640" y="3794760"/>
            <a:ext cx="8046720" cy="777240"/>
          </a:xfrm>
          <a:prstGeom prst="roundRect">
            <a:avLst>
              <a:gd name="adj" fmla="val 11765"/>
            </a:avLst>
          </a:prstGeom>
          <a:solidFill>
            <a:srgbClr val="3F2A78"/>
          </a:solidFill>
          <a:ln w="12700">
            <a:solidFill>
              <a:srgbClr val="3F2A7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379476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Děkuji za pozornost. Informační systém nemusí být ve škole jen administrativní nutnost – může být pomůckou, na které si žák digitální svět sám postaví.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Stack IS · Obhajoba bakalářské práce · Petr Vích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138160" y="47548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Edu Stack IS – obhajoba bakalářské práce</dc:title>
  <dc:subject>PptxGenJS Presentation</dc:subject>
  <dc:creator>Petr Vích</dc:creator>
  <cp:lastModifiedBy>Petr Vích</cp:lastModifiedBy>
  <cp:revision>1</cp:revision>
  <dcterms:created xsi:type="dcterms:W3CDTF">2026-09-04T07:50:19Z</dcterms:created>
  <dcterms:modified xsi:type="dcterms:W3CDTF">2026-09-04T07:50:19Z</dcterms:modified>
</cp:coreProperties>
</file>
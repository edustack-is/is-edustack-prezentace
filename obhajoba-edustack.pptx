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1" r:id="rId7"/>
    <p:sldId id="268" r:id="rId19"/>
    <p:sldId id="260" r:id="rId6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  <Relationship Id="rId19" Type="http://schemas.openxmlformats.org/officeDocument/2006/relationships/slide" Target="slides/slide13.xml"/>
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Dobrý den, jmenuji se Petr Vích a představím svou bakalářskou práci Informační systém pro podporu výuky informatiky. Výsledkem je Edu Stack IS – edukační informační systém, ve kterém žák není jen uživatel, ale správce fiktivní školy. Prezentace má 10 minut: východiska, cíle, tři didaktické principy, krátce architektura, ověření ve výuce a limity.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Východisko 1: téma školního IS ve výuce najdeme v literatuře už v roce 2007 (Dostál) – není to nový nápad, ale v české praxi chyběl nástroj, kde má žák plný přístup. Východisko 2: komerční školní systémy jsem si vzal jako VZOR, ne jako konkurenci. Žáci – i ti mladší – vědí, jak škola funguje, takže IS mohu vysvětlovat na známém příkladu a nemusím budovat doménové porozumění od nuly.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Tři dílčí cíle. Vymezit kategorii edukačních IS a odlišit ji od tří sousedních: komerční školní systémy (doména školy, ale uzavřené a žák pasivní), low-code nástroje (otevřené a aktivní, ale bez domény školy) a výukové platformy informatiky (algoritmizace, informační systémy jen okrajově) – podle účelu, role žáka, prostředí a otevřenosti. Navrhnout prototyp: doménový model věrný škole, otevřený, bezpečně resetovatelný, tři vrstvy hloubky – uživatelská pro 1. stupeň, konfigurační pro 2. stupeň, vývojářská pro SŠ – a připravit pracovní listy. Ověřit ho ve výuce. Předpoklad (v textu práce formulovaný jako výzkumná otázka): simulace správy školy dovede žáka od používání k porozumění rolím, oprávněním a datovým tokům.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Nejde o technickou práci. Software je pomůcka; hlavní text je didaktický a technika je v přílohách. Pedagogické jádro: posun po Bloomově taxonomii – žák jako uživatel jen čte známku; jako správce aplikuje a analyzuje (založí třídu, řeší kolizi); jako spolutvůrce hodnotí a tvoří (navrhne modul, čte ER diagram). Přechod: a jak jeden systém roste se žákem.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Třetí princip: práce s chybou. Systém pracuje výhradně s fiktivními daty, která lze kdykoli přegenerovat, a každá cvičná škola má vlastní oddělený datový prostor a lze ji resetovat. Když žák něco omylem smaže – nebo schválně v rámci úkolu – nic se neděje; naopak je to příležitost: proč to šlo smazat? kdo to mohl? co se ztratilo? V pilotáži se to potvrdilo – záměrná kolize v rozvrhu byla tématem diskuse, ne problémem.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Druhý princip: není to tři různé aplikace, ale jeden plnohodnotný systém se třemi vrstvami hloubky. Na 1. stupni žák pozoruje – role jako pohled. Na 2. stupni spravuje strukturu – třídy, předměty, rozvrh. Na SŠ jde pod kapotu – ER diagram, API, vlastní modul. Mění se jen kompetence žáka v čase, systém zůstává. Podle stupňů existují tři pracovní listy s klíčem pro učitele. Přechod: a proč na to stačí jeden nástroj.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Rychle: šest rolí, každá učí něco jiného – admin bezpečnost tajných hodnot, zástupce plánování a kolize, učitel odpovědnost za data, rodič oprávnění. Databáze má přes 40 tabulek; didakticky jsem ji rozdělil do 8 domén, z nichž každá odpovídá jedné výukové otázce – učitel postupuje doménu po doméně jako kapitolami učebnice. Klíčové: vazby jsou viditelné – nový předmět se promítne do rozvrhu, klasifikace i úvazku.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Jen rychle, detaily nechám do dotazů. Webová aplikace: React frontend na Cloudflare Pages, NestJS backend s REST API, RBAC guardem a auditem, SQLite s čistým SQL (better-sqlite3). AI je záměrně oddělená vrstva – MCP server vystavuje nástroje jazykovým modelům a běží jen na loopbacku. Didakticky: monorepo je čitelné pro středoškoláky, multitenance dává každé třídě vlastní školu, a celé to lze spustit lokálně bez internetu.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Pilotáž: jedna vyučovací hodina, 16 žáků 9. třídy, role zástupce ředitele a učitel, tři pracovní listy. Klíčové číslo: 15 z 16 dokázalo aspoň částečně vysvětlit, proč každá role vidí jiná data – RBAC pochopili prožitkem, ne výkladem. 14 z 16 by chtělo pokračovat. Vzhled medián 9,5, snadnost 9,0. Nejvíc bavily známky a AI asistent. Technicky: 13 přihlášení hned, žádný pád, dva věcné podněty. Protestní odpověď jednoho žáka jsem v datech nechal a komentoval.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Osobní část. S výukou dětí jsem neměl zkušenost – mentoroval jsem dospělé, vedl skautský oddíl, ale ve škole to bylo poprvé. Z mého pohledu systém plní, k čemu byl navržen. Ale za jednu hodinu se plný potenciál využít nedá: třída nebyla zvyklá na tento styl práce, vysvětlování zabralo víc času než úlohy. A hlavně – žáci se báli klikat, aby něco nezkazili. To je paradox: sandbox je tu právě proto, aby se báli nemuseli, ale tu jistotu si musí nejdřív odžít. Poučení: úvodní kratší hodina o principu 'nic nezkazíš' a rozdělení úloh do více hodin.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Shrnutí: vymezil jsem kategorii edukačních IS, postavil prototyp s metodikou a ověřil ho ve výuce; pilotáž tento předpoklad podpořila. Další rozvoj: ověření na SŠ a 1. stupni a na více školách. Kód je otevřený na GitHubu pod organizací edustack-is a k systému jsem připravil doprovodný web is-edustack.org s dokumentací pro učitele. Děkuji za pozornost a rád odpovím na otázky.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Otevřeně k limitům – vedoucí je pojmenoval přesně. (1) Ověření jen na 2. stupni; SŠ pilotáž bych vedl na odborné škole s 3. listem a přesně popsal vzorek a podmínky. (2) Kurikulární analýza – pracoval jsem hlavně s RVP ZV, gymnaziální a odborné kurikulum si zaslouží samostatné zpracování. (3) Dotazník nebyl standardizovaný v metodologickém smyslu – správně 'vlastní strukturovaný'. (4) Rozpor v popisu MCP: autorizaci vynucuje backend – MCP nástroj volá REST API s oprávněními uživatele dané relace, MCP vrstva sama guard nemá. Formulaci v klíči listu sjednotím.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Proč jeden nástroj. V běžné praxi by žák potřeboval tři prostředí – něco na algoritmy, něco na modelování dat, něco na správu systému – a v každém se znovu učit ovládání. Edu Stack IS pokrývá všechny fáze v jednom prostředí: tatáž škola, tytéž role a data. Nižší kognitivní zátěž – žák se neučí nový nástroj, ale nový pohled na známý systém. Tím zbývá víc času na obsah: role, oprávnění, datové toky. Porovnání vychází ze srovnávací tabulky v kapitole 5 práce. Přechod: aby to fungovalo, musí být dovoleno dělat chyby.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F2A7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9184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0920" y="1764450"/>
            <a:ext cx="1310000" cy="16146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749040" y="91440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Informační systém pro podporu výuky informatiky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3749040" y="233172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BF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Stack IS – edukační sandbox, ve kterém se žák stává správcem školy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3749040" y="3291840"/>
            <a:ext cx="4937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Petr Vích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Obhajoba bakalářské práce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Studijní program Informační technologie se zaměřením na vzdělávání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Vedoucí práce: PhDr. Jakub Mazuch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KITTV, Pedagogická fakulta UK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září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Myšlenka není nová – chyběla ale realizace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3840480" cy="3291840"/>
          </a:xfrm>
          <a:prstGeom prst="roundRect">
            <a:avLst>
              <a:gd name="adj" fmla="val 3333"/>
            </a:avLst>
          </a:prstGeom>
          <a:solidFill>
            <a:srgbClr val="F1EDFA"/>
          </a:solidFill>
          <a:ln w="12700">
            <a:solidFill>
              <a:srgbClr val="F1EDF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13232" y="1298448"/>
            <a:ext cx="3511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Literatura: školní IS jako téma výuky (2007)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691640"/>
            <a:ext cx="3511296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Dostál (2007) popisuje školní informační systémy jako integrovanou agendu školy – matriku, klasifikaci, rozvrh, komunikaci.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této linii chybí nástroj, do kterého by měl žák plný přístup a mohl v něm sám spravovat data, role a oprávnění. Přesně tuto mezeru práce vyplňuje.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754880" y="1188720"/>
            <a:ext cx="3840480" cy="3291840"/>
          </a:xfrm>
          <a:prstGeom prst="roundRect">
            <a:avLst>
              <a:gd name="adj" fmla="val 3333"/>
            </a:avLst>
          </a:prstGeom>
          <a:solidFill>
            <a:srgbClr val="F1EDFA"/>
          </a:solidFill>
          <a:ln w="12700">
            <a:solidFill>
              <a:srgbClr val="F1EDF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919472" y="1298448"/>
            <a:ext cx="3511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Vzor, ne konkurence: Bakaláři, EduPage…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919472" y="1691640"/>
            <a:ext cx="3511296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Komerční školní IS beru jako referenční rámec funkcí, nikoli jako srovnávací cíl.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Důvod je didaktický: žáci školu důvěrně znají – mají rozvrh, známky, omluvenky. Nemusím vysvětlovat doménu, mohu rovnou ukazovat, jak IS uvnitř funguje.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Stack IS · Obhajoba bakalářské práce · Petr Vích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Cíle práce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325880"/>
            <a:ext cx="548640" cy="548640"/>
          </a:xfrm>
          <a:prstGeom prst="ellipse">
            <a:avLst/>
          </a:prstGeom>
          <a:solidFill>
            <a:srgbClr val="6544AF"/>
          </a:solidFill>
          <a:ln w="12700">
            <a:solidFill>
              <a:srgbClr val="6544A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60" dirty="0"/>
          </a:p>
        </p:txBody>
      </p:sp>
      <p:sp>
        <p:nvSpPr>
          <p:cNvPr id="5" name="Text 3"/>
          <p:cNvSpPr txBox="1"/>
          <p:nvPr/>
        </p:nvSpPr>
        <p:spPr>
          <a:xfrm>
            <a:off x="1417320" y="123444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Vymezit kategorii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60020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Odlišit edukační IS od komerčních školních systémů (Bakaláři, EduPage), od low-code nástrojů (Airtable, Notion) i od výukových platforem informatiky (Scratch, Umíme to). Čtyři kritéria: účel · role žáka · prostředí · otevřenost.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286000"/>
            <a:ext cx="548640" cy="548640"/>
          </a:xfrm>
          <a:prstGeom prst="ellipse">
            <a:avLst/>
          </a:prstGeom>
          <a:solidFill>
            <a:srgbClr val="E24D8D"/>
          </a:solidFill>
          <a:ln w="12700">
            <a:solidFill>
              <a:srgbClr val="E24D8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2286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60" dirty="0"/>
          </a:p>
        </p:txBody>
      </p:sp>
      <p:sp>
        <p:nvSpPr>
          <p:cNvPr id="9" name="Text 7"/>
          <p:cNvSpPr txBox="1"/>
          <p:nvPr/>
        </p:nvSpPr>
        <p:spPr>
          <a:xfrm>
            <a:off x="1417320" y="219456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Navrhnout prototyp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417320" y="2560320"/>
            <a:ext cx="7132320" cy="640080"/>
          </a:xfrm>
          <a:prstGeom prst="rect">
            <a:avLst/>
          </a:prstGeom>
          <a:noFill/>
          <a:ln/>
        </p:spPr>
        <p:txBody>
          <a:bodyPr numCol="2" spcCol="182880" wrap="square" lIns="0" tIns="0" rIns="0" bIns="0" rtlCol="0" anchor="t"/>
          <a:lstStyle/>
          <a:p>
            <a:pPr marL="177800" indent="-177800">
              <a:spcAft>
                <a:spcPts val="100"/>
              </a:spcAft>
              <a:buChar char="•"/>
            </a:pPr>
            <a:r>
              <a:rPr lang="en-US" sz="12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doménový model věrný škole</a:t>
            </a:r>
          </a:p>
          <a:p>
            <a:pPr marL="177800" indent="-177800">
              <a:spcAft>
                <a:spcPts val="100"/>
              </a:spcAft>
              <a:buChar char="•"/>
            </a:pPr>
            <a:r>
              <a:rPr lang="en-US" sz="12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otevřený systém (kód, datový model)</a:t>
            </a:r>
          </a:p>
          <a:p>
            <a:pPr marL="177800" indent="-177800">
              <a:spcAft>
                <a:spcPts val="100"/>
              </a:spcAft>
              <a:buChar char="•"/>
            </a:pPr>
            <a:r>
              <a:rPr lang="en-US" sz="12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bezpečně resetovatelný sandbox</a:t>
            </a:r>
          </a:p>
          <a:p>
            <a:pPr marL="177800" indent="-177800">
              <a:spcAft>
                <a:spcPts val="100"/>
              </a:spcAft>
              <a:buChar char="•"/>
            </a:pPr>
            <a:r>
              <a:rPr lang="en-US" sz="12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tři vrstvy hloubky: uživatelská · konfigurační · vývojářská</a:t>
            </a:r>
          </a:p>
          <a:p>
            <a:pPr marL="177800" indent="-177800">
              <a:spcAft>
                <a:spcPts val="100"/>
              </a:spcAft>
              <a:buChar char="•"/>
            </a:pPr>
            <a:r>
              <a:rPr lang="en-US" sz="12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připravit pracovní listy pro podporu přípravy na výuku</a:t>
            </a:r>
          </a:p>
        </p:txBody>
      </p:sp>
      <p:sp>
        <p:nvSpPr>
          <p:cNvPr id="11" name="Shape 9"/>
          <p:cNvSpPr/>
          <p:nvPr/>
        </p:nvSpPr>
        <p:spPr>
          <a:xfrm>
            <a:off x="640080" y="3337560"/>
            <a:ext cx="548640" cy="54864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" y="3337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60" dirty="0"/>
          </a:p>
        </p:txBody>
      </p:sp>
      <p:sp>
        <p:nvSpPr>
          <p:cNvPr id="13" name="Text 11"/>
          <p:cNvSpPr txBox="1"/>
          <p:nvPr/>
        </p:nvSpPr>
        <p:spPr>
          <a:xfrm>
            <a:off x="1417320" y="324612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Ověřit ve výuce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417320" y="3611880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Zjistit, zda navržené úlohy vedou k pochopení rolí, oprávnění a datových toků.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4160520"/>
            <a:ext cx="8046720" cy="502920"/>
          </a:xfrm>
          <a:prstGeom prst="roundRect">
            <a:avLst>
              <a:gd name="adj" fmla="val 20000"/>
            </a:avLst>
          </a:prstGeom>
          <a:solidFill>
            <a:srgbClr val="F1EDFA"/>
          </a:solidFill>
          <a:ln w="12700">
            <a:solidFill>
              <a:srgbClr val="F1EDF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" y="416052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Předpoklad: </a:t>
            </a:r>
            <a:pPr indent="0" marL="0">
              <a:buNone/>
            </a:pPr>
            <a:r>
              <a:rPr lang="en-US" sz="12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Řízená simulace správy školy dovede žáka od pasivního používání IS k porozumění jeho rolím, oprávněním a datovým tokům.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Stack IS · Obhajoba bakalářské práce · Petr Vích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1381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Nejde o software, jde o to, co se na něm žák naučí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je pomůcka. Hlavní text práce popisuje role, procesy, úrovně a úlohy; technologie jsou vyčleněny do příloh (uživatelská příručka A, technická příloha B).</a:t>
            </a:r>
            <a:endParaRPr lang="en-US" sz="1300" dirty="0"/>
          </a:p>
        </p:txBody>
      </p:sp>
      <p:sp>
        <p:nvSpPr>
          <p:cNvPr id="101" name="Text 101"/>
          <p:cNvSpPr txBox="1"/>
          <p:nvPr/>
        </p:nvSpPr>
        <p:spPr>
          <a:xfrm>
            <a:off x="548640" y="2103120"/>
            <a:ext cx="25146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cs-CZ" sz="1100" i="1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žák jako uživatel</a:t>
            </a:r>
          </a:p>
        </p:txBody>
      </p:sp>
      <p:sp>
        <p:nvSpPr>
          <p:cNvPr id="102" name="Shape 102"/>
          <p:cNvSpPr/>
          <p:nvPr/>
        </p:nvSpPr>
        <p:spPr>
          <a:xfrm>
            <a:off x="548640" y="2377440"/>
            <a:ext cx="2514600" cy="914400"/>
          </a:xfrm>
          <a:prstGeom prst="roundRect">
            <a:avLst>
              <a:gd name="adj" fmla="val 6000"/>
            </a:avLst>
          </a:prstGeom>
          <a:solidFill>
            <a:srgbClr val="B8B0D6"/>
          </a:solidFill>
          <a:ln>
            <a:noFill/>
          </a:ln>
        </p:spPr>
      </p:sp>
      <p:sp>
        <p:nvSpPr>
          <p:cNvPr id="103" name="Text 103"/>
          <p:cNvSpPr txBox="1"/>
          <p:nvPr/>
        </p:nvSpPr>
        <p:spPr>
          <a:xfrm>
            <a:off x="685800" y="2487168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cs-CZ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zapamatovat / porozumět</a:t>
            </a:r>
          </a:p>
        </p:txBody>
      </p:sp>
      <p:sp>
        <p:nvSpPr>
          <p:cNvPr id="104" name="Text 104"/>
          <p:cNvSpPr txBox="1"/>
          <p:nvPr/>
        </p:nvSpPr>
        <p:spPr>
          <a:xfrm>
            <a:off x="685800" y="283464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cs-CZ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žák čte známku, kterou eviduje někdo jiný</a:t>
            </a:r>
          </a:p>
        </p:txBody>
      </p:sp>
      <p:sp>
        <p:nvSpPr>
          <p:cNvPr id="105" name="Text 105"/>
          <p:cNvSpPr txBox="1"/>
          <p:nvPr/>
        </p:nvSpPr>
        <p:spPr>
          <a:xfrm>
            <a:off x="3246120" y="1874520"/>
            <a:ext cx="25146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cs-CZ" sz="1100" i="1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žák jako správce</a:t>
            </a:r>
          </a:p>
        </p:txBody>
      </p:sp>
      <p:sp>
        <p:nvSpPr>
          <p:cNvPr id="106" name="Shape 106"/>
          <p:cNvSpPr/>
          <p:nvPr/>
        </p:nvSpPr>
        <p:spPr>
          <a:xfrm>
            <a:off x="3246120" y="2148840"/>
            <a:ext cx="2514600" cy="1143000"/>
          </a:xfrm>
          <a:prstGeom prst="roundRect">
            <a:avLst>
              <a:gd name="adj" fmla="val 6000"/>
            </a:avLst>
          </a:prstGeom>
          <a:solidFill>
            <a:srgbClr val="8F7BCB"/>
          </a:solidFill>
          <a:ln>
            <a:noFill/>
          </a:ln>
        </p:spPr>
      </p:sp>
      <p:sp>
        <p:nvSpPr>
          <p:cNvPr id="107" name="Text 107"/>
          <p:cNvSpPr txBox="1"/>
          <p:nvPr/>
        </p:nvSpPr>
        <p:spPr>
          <a:xfrm>
            <a:off x="3383280" y="2258568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cs-CZ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aplikovat / analyzovat</a:t>
            </a:r>
          </a:p>
        </p:txBody>
      </p:sp>
      <p:sp>
        <p:nvSpPr>
          <p:cNvPr id="108" name="Text 108"/>
          <p:cNvSpPr txBox="1"/>
          <p:nvPr/>
        </p:nvSpPr>
        <p:spPr>
          <a:xfrm>
            <a:off x="3383280" y="260604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cs-CZ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žák zakládá třídu, řeší kolizi v rozvrhu</a:t>
            </a:r>
          </a:p>
        </p:txBody>
      </p:sp>
      <p:sp>
        <p:nvSpPr>
          <p:cNvPr id="109" name="Text 109"/>
          <p:cNvSpPr txBox="1"/>
          <p:nvPr/>
        </p:nvSpPr>
        <p:spPr>
          <a:xfrm>
            <a:off x="5943600" y="1645920"/>
            <a:ext cx="25146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cs-CZ" sz="1100" i="1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žák jako spolutvůrce</a:t>
            </a:r>
          </a:p>
        </p:txBody>
      </p:sp>
      <p:sp>
        <p:nvSpPr>
          <p:cNvPr id="110" name="Shape 110"/>
          <p:cNvSpPr/>
          <p:nvPr/>
        </p:nvSpPr>
        <p:spPr>
          <a:xfrm>
            <a:off x="5943600" y="1920240"/>
            <a:ext cx="2514600" cy="1371600"/>
          </a:xfrm>
          <a:prstGeom prst="roundRect">
            <a:avLst>
              <a:gd name="adj" fmla="val 6000"/>
            </a:avLst>
          </a:prstGeom>
          <a:solidFill>
            <a:srgbClr val="6544AF"/>
          </a:solidFill>
          <a:ln>
            <a:noFill/>
          </a:ln>
        </p:spPr>
      </p:sp>
      <p:sp>
        <p:nvSpPr>
          <p:cNvPr id="111" name="Text 111"/>
          <p:cNvSpPr txBox="1"/>
          <p:nvPr/>
        </p:nvSpPr>
        <p:spPr>
          <a:xfrm>
            <a:off x="6080760" y="2029968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cs-CZ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hodnotit / tvořit</a:t>
            </a:r>
          </a:p>
        </p:txBody>
      </p:sp>
      <p:sp>
        <p:nvSpPr>
          <p:cNvPr id="112" name="Text 112"/>
          <p:cNvSpPr txBox="1"/>
          <p:nvPr/>
        </p:nvSpPr>
        <p:spPr>
          <a:xfrm>
            <a:off x="6080760" y="237744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cs-CZ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žák navrhuje modul, čte ER diagram, volá API</a:t>
            </a:r>
          </a:p>
        </p:txBody>
      </p:sp>
      <p:sp>
        <p:nvSpPr>
          <p:cNvPr id="113" name="Text 113"/>
          <p:cNvSpPr txBox="1"/>
          <p:nvPr/>
        </p:nvSpPr>
        <p:spPr>
          <a:xfrm>
            <a:off x="548640" y="3474720"/>
            <a:ext cx="804672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cs-CZ" sz="12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Posun po Bloomově taxonomii: od uživatele k modeláři a správci</a:t>
            </a:r>
          </a:p>
        </p:txBody>
      </p:sp>
      <p:sp>
        <p:nvSpPr>
          <p:cNvPr id="16" name="Text 14"/>
          <p:cNvSpPr txBox="1"/>
          <p:nvPr/>
        </p:nvSpPr>
        <p:spPr>
          <a:xfrm>
            <a:off x="54864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Stack IS · Obhajoba bakalářské práce · Petr Vích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81381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Chyba je přirozená – když se s ní pracuje, učí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2560320" cy="3291840"/>
          </a:xfrm>
          <a:prstGeom prst="roundRect">
            <a:avLst>
              <a:gd name="adj" fmla="val 4286"/>
            </a:avLst>
          </a:prstGeom>
          <a:solidFill>
            <a:srgbClr val="F1EDFA"/>
          </a:solidFill>
          <a:ln w="12700">
            <a:solidFill>
              <a:srgbClr val="F1EDF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13232" y="1298448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Jen fiktivní data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691640"/>
            <a:ext cx="2231136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Žádné reálné osoby, žádné GDPR riziko. Cvičnou školu vygeneruje učitel na pár kliků (stovky záznamů).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291840" y="1188720"/>
            <a:ext cx="2560320" cy="3291840"/>
          </a:xfrm>
          <a:prstGeom prst="roundRect">
            <a:avLst>
              <a:gd name="adj" fmla="val 4286"/>
            </a:avLst>
          </a:prstGeom>
          <a:solidFill>
            <a:srgbClr val="F1EDFA"/>
          </a:solidFill>
          <a:ln w="12700">
            <a:solidFill>
              <a:srgbClr val="F1EDF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456432" y="1298448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 kdykoli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3456432" y="1691640"/>
            <a:ext cx="2231136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Každá cvičná škola má vlastní oddělený datový prostor (multitenance). Po hodině se vrátí do výchozího stavu – beze stopy.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035040" y="1188720"/>
            <a:ext cx="2560320" cy="3291840"/>
          </a:xfrm>
          <a:prstGeom prst="roundRect">
            <a:avLst>
              <a:gd name="adj" fmla="val 4286"/>
            </a:avLst>
          </a:prstGeom>
          <a:solidFill>
            <a:srgbClr val="FBE3EE"/>
          </a:solidFill>
          <a:ln w="12700">
            <a:solidFill>
              <a:srgbClr val="FBE3E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199632" y="1298448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72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„Zkus to rozbít“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199632" y="1691640"/>
            <a:ext cx="2231136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Omylem smazaný žák nebo záměrně vyvolaná kolize v rozvrhu je materiál k diskusi, ne provozní problém. Bezpečný reset dělá z chyby úlohu.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2062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Sandbox je podmínka experimentu: bez něj nelze žáka vyzvat, ať systém záměrně „rozbije“ – a právě to nejlépe odhaluje, jak funguje.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Stack IS · Obhajoba bakalářské práce · Petr Vích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81381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Jeden systém pro všechny – mění se jen kompetence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828800" cy="914400"/>
          </a:xfrm>
          <a:prstGeom prst="roundRect">
            <a:avLst>
              <a:gd name="adj" fmla="val 10000"/>
            </a:avLst>
          </a:prstGeom>
          <a:solidFill>
            <a:srgbClr val="7EC3E4"/>
          </a:solidFill>
          <a:ln w="12700">
            <a:solidFill>
              <a:srgbClr val="7EC3E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18872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stupeň ZŠ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Uživatelská vrstva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2606040" y="1234440"/>
            <a:ext cx="5989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jako pohled: přihlásím se jako žák, učitel, ředitel – co vidím a co smím? Zápis jedné známky, diskuse o odpovědnosti.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2240280"/>
            <a:ext cx="1828800" cy="914400"/>
          </a:xfrm>
          <a:prstGeom prst="roundRect">
            <a:avLst>
              <a:gd name="adj" fmla="val 10000"/>
            </a:avLst>
          </a:prstGeom>
          <a:solidFill>
            <a:srgbClr val="6544AF"/>
          </a:solidFill>
          <a:ln w="12700">
            <a:solidFill>
              <a:srgbClr val="6544A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224028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stupeň ZŠ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Konfigurační vrstva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2606040" y="2286000"/>
            <a:ext cx="5989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Struktura jako řemeslo: založení třídy, předmětu, rozvrh s detekcí kolizí, AI asistent, otázka impersonace.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3291840"/>
            <a:ext cx="1828800" cy="914400"/>
          </a:xfrm>
          <a:prstGeom prst="roundRect">
            <a:avLst>
              <a:gd name="adj" fmla="val 10000"/>
            </a:avLst>
          </a:prstGeom>
          <a:solidFill>
            <a:srgbClr val="E24D8D"/>
          </a:solidFill>
          <a:ln w="12700">
            <a:solidFill>
              <a:srgbClr val="E24D8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329184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Střední škola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Vývojářská vrstva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606040" y="3337560"/>
            <a:ext cx="5989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Systém jako platforma: ER diagram, REST a MCP API, vlastní skript, návrh nového modulu, šifrování a anonymizace.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34340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Spirálové kurikulum: tatáž známka nebo rozvrh se vrací v každém stupni na vyšší úrovni abstrakce. Žák, který dnes klikne na známku, ji za pár let přečte ze svého skriptu – a pozná, že je to tatáž věc.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Stack IS · Obhajoba bakalářské práce · Petr Vích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81381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 žák v systému potká: role a datové domény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Šest rolí – každá je vzdělávací příležitost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38404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buSzPct val="100000"/>
              <a:buChar char="•"/>
            </a:pPr>
            <a:r>
              <a:rPr lang="en-US" sz="1200" b="1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Systémový administrátor – </a:t>
            </a:r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provoz pro více škol, tajné klíče</a:t>
            </a:r>
            <a:endParaRPr lang="en-US" sz="1200" dirty="0"/>
          </a:p>
          <a:p>
            <a:pPr marL="152400" indent="-152400">
              <a:buSzPct val="100000"/>
              <a:buChar char="•"/>
            </a:pPr>
            <a:r>
              <a:rPr lang="en-US" sz="1200" b="1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Ředitel – </a:t>
            </a:r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pohled shora, bílá kniha</a:t>
            </a:r>
            <a:endParaRPr lang="en-US" sz="1200" dirty="0"/>
          </a:p>
          <a:p>
            <a:pPr marL="152400" indent="-152400">
              <a:buSzPct val="100000"/>
              <a:buChar char="•"/>
            </a:pPr>
            <a:r>
              <a:rPr lang="en-US" sz="1200" b="1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Zástupce ředitele – </a:t>
            </a:r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rozvrh, suplování, kolize</a:t>
            </a:r>
            <a:endParaRPr lang="en-US" sz="1200" dirty="0"/>
          </a:p>
          <a:p>
            <a:pPr marL="152400" indent="-152400">
              <a:buSzPct val="100000"/>
              <a:buChar char="•"/>
            </a:pPr>
            <a:r>
              <a:rPr lang="en-US" sz="1200" b="1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Učitel – </a:t>
            </a:r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známky, třídní kniha – odpovědnost za data</a:t>
            </a:r>
            <a:endParaRPr lang="en-US" sz="1200" dirty="0"/>
          </a:p>
          <a:p>
            <a:pPr marL="152400" indent="-152400">
              <a:buSzPct val="100000"/>
              <a:buChar char="•"/>
            </a:pPr>
            <a:r>
              <a:rPr lang="en-US" sz="1200" b="1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Rodič – </a:t>
            </a:r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 a komu systém ukazuje</a:t>
            </a:r>
            <a:endParaRPr lang="en-US" sz="1200" dirty="0"/>
          </a:p>
          <a:p>
            <a:pPr marL="152400" indent="-152400">
              <a:buSzPct val="100000"/>
              <a:buChar char="•"/>
            </a:pPr>
            <a:r>
              <a:rPr lang="en-US" sz="1200" b="1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Žák – </a:t>
            </a:r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nejnižší role: co smím vidět a co ne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754880" y="109728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Osm datových domén – každá má svou otázku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754880" y="1463040"/>
            <a:ext cx="1828800" cy="658368"/>
          </a:xfrm>
          <a:prstGeom prst="roundRect">
            <a:avLst>
              <a:gd name="adj" fmla="val 11111"/>
            </a:avLst>
          </a:prstGeom>
          <a:solidFill>
            <a:srgbClr val="F1EDFA"/>
          </a:solidFill>
          <a:ln w="12700">
            <a:solidFill>
              <a:srgbClr val="F1EDF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46320" y="1463040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Identita</a:t>
            </a:r>
            <a:endParaRPr lang="en-US" sz="1050" dirty="0"/>
          </a:p>
          <a:p>
            <a:pPr indent="0" marL="0">
              <a:buNone/>
            </a:pPr>
            <a:r>
              <a:rPr lang="en-US" sz="95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 systém ví, kdo jsem?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720840" y="1463040"/>
            <a:ext cx="1828800" cy="658368"/>
          </a:xfrm>
          <a:prstGeom prst="roundRect">
            <a:avLst>
              <a:gd name="adj" fmla="val 11111"/>
            </a:avLst>
          </a:prstGeom>
          <a:solidFill>
            <a:srgbClr val="F1EDFA"/>
          </a:solidFill>
          <a:ln w="12700">
            <a:solidFill>
              <a:srgbClr val="F1EDF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12280" y="1463040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Akademická struktura</a:t>
            </a:r>
            <a:endParaRPr lang="en-US" sz="1050" dirty="0"/>
          </a:p>
          <a:p>
            <a:pPr indent="0" marL="0">
              <a:buNone/>
            </a:pPr>
            <a:r>
              <a:rPr lang="en-US" sz="95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 je škola organizována v čase?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754880" y="2212848"/>
            <a:ext cx="1828800" cy="658368"/>
          </a:xfrm>
          <a:prstGeom prst="roundRect">
            <a:avLst>
              <a:gd name="adj" fmla="val 11111"/>
            </a:avLst>
          </a:prstGeom>
          <a:solidFill>
            <a:srgbClr val="F1EDFA"/>
          </a:solidFill>
          <a:ln w="12700">
            <a:solidFill>
              <a:srgbClr val="F1EDF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46320" y="2212848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Úvazky a prostory</a:t>
            </a:r>
            <a:endParaRPr lang="en-US" sz="1050" dirty="0"/>
          </a:p>
          <a:p>
            <a:pPr indent="0" marL="0">
              <a:buNone/>
            </a:pPr>
            <a:r>
              <a:rPr lang="en-US" sz="95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Kdo a kde učí?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720840" y="2212848"/>
            <a:ext cx="1828800" cy="658368"/>
          </a:xfrm>
          <a:prstGeom prst="roundRect">
            <a:avLst>
              <a:gd name="adj" fmla="val 11111"/>
            </a:avLst>
          </a:prstGeom>
          <a:solidFill>
            <a:srgbClr val="F1EDFA"/>
          </a:solidFill>
          <a:ln w="12700">
            <a:solidFill>
              <a:srgbClr val="F1EDF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12280" y="2212848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Rozvrh a třídní kniha</a:t>
            </a:r>
            <a:endParaRPr lang="en-US" sz="1050" dirty="0"/>
          </a:p>
          <a:p>
            <a:pPr indent="0" marL="0">
              <a:buNone/>
            </a:pPr>
            <a:r>
              <a:rPr lang="en-US" sz="95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 se děje v hodině?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754880" y="2962656"/>
            <a:ext cx="1828800" cy="658368"/>
          </a:xfrm>
          <a:prstGeom prst="roundRect">
            <a:avLst>
              <a:gd name="adj" fmla="val 11111"/>
            </a:avLst>
          </a:prstGeom>
          <a:solidFill>
            <a:srgbClr val="F1EDFA"/>
          </a:solidFill>
          <a:ln w="12700">
            <a:solidFill>
              <a:srgbClr val="F1EDF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846320" y="2962656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Docházka a klasifikace</a:t>
            </a:r>
            <a:endParaRPr lang="en-US" sz="1050" dirty="0"/>
          </a:p>
          <a:p>
            <a:pPr indent="0" marL="0">
              <a:buNone/>
            </a:pPr>
            <a:r>
              <a:rPr lang="en-US" sz="95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 měříme výsledky?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720840" y="2962656"/>
            <a:ext cx="1828800" cy="658368"/>
          </a:xfrm>
          <a:prstGeom prst="roundRect">
            <a:avLst>
              <a:gd name="adj" fmla="val 11111"/>
            </a:avLst>
          </a:prstGeom>
          <a:solidFill>
            <a:srgbClr val="F1EDFA"/>
          </a:solidFill>
          <a:ln w="12700">
            <a:solidFill>
              <a:srgbClr val="F1EDF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812280" y="2962656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Plánování a materiály</a:t>
            </a:r>
            <a:endParaRPr lang="en-US" sz="1050" dirty="0"/>
          </a:p>
          <a:p>
            <a:pPr indent="0" marL="0">
              <a:buNone/>
            </a:pPr>
            <a:r>
              <a:rPr lang="en-US" sz="95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 učitel plánuje?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754880" y="3712464"/>
            <a:ext cx="1828800" cy="658368"/>
          </a:xfrm>
          <a:prstGeom prst="roundRect">
            <a:avLst>
              <a:gd name="adj" fmla="val 11111"/>
            </a:avLst>
          </a:prstGeom>
          <a:solidFill>
            <a:srgbClr val="F1EDFA"/>
          </a:solidFill>
          <a:ln w="12700">
            <a:solidFill>
              <a:srgbClr val="F1EDF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846320" y="3712464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Komunikace</a:t>
            </a:r>
            <a:endParaRPr lang="en-US" sz="1050" dirty="0"/>
          </a:p>
          <a:p>
            <a:pPr indent="0" marL="0">
              <a:buNone/>
            </a:pPr>
            <a:r>
              <a:rPr lang="en-US" sz="95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 škola propojuje lidi?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720840" y="3712464"/>
            <a:ext cx="1828800" cy="658368"/>
          </a:xfrm>
          <a:prstGeom prst="roundRect">
            <a:avLst>
              <a:gd name="adj" fmla="val 11111"/>
            </a:avLst>
          </a:prstGeom>
          <a:solidFill>
            <a:srgbClr val="F1EDFA"/>
          </a:solidFill>
          <a:ln w="12700">
            <a:solidFill>
              <a:srgbClr val="F1EDF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812280" y="3712464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Systém a AI</a:t>
            </a:r>
            <a:endParaRPr lang="en-US" sz="1050" dirty="0"/>
          </a:p>
          <a:p>
            <a:pPr indent="0" marL="0">
              <a:buNone/>
            </a:pPr>
            <a:r>
              <a:rPr lang="en-US" sz="95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 běží na pozadí?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Stack IS · Obhajoba bakalářské práce · Petr Vích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81381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 je systém postavený (stručně)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1737360" cy="1005840"/>
          </a:xfrm>
          <a:prstGeom prst="roundRect">
            <a:avLst>
              <a:gd name="adj" fmla="val 9091"/>
            </a:avLst>
          </a:prstGeom>
          <a:solidFill>
            <a:srgbClr val="7EC3E4"/>
          </a:solidFill>
          <a:ln w="12700">
            <a:solidFill>
              <a:srgbClr val="7EC3E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1371600"/>
            <a:ext cx="15179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Prohlížeč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žák · učitel · rodič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377440" y="1737360"/>
            <a:ext cx="365760" cy="274320"/>
          </a:xfrm>
          <a:prstGeom prst="rightArrow">
            <a:avLst/>
          </a:prstGeom>
          <a:solidFill>
            <a:srgbClr val="C9BFE8"/>
          </a:solidFill>
          <a:ln w="12700">
            <a:solidFill>
              <a:srgbClr val="C9BF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34640" y="1371600"/>
            <a:ext cx="1828800" cy="1005840"/>
          </a:xfrm>
          <a:prstGeom prst="roundRect">
            <a:avLst>
              <a:gd name="adj" fmla="val 9091"/>
            </a:avLst>
          </a:prstGeom>
          <a:solidFill>
            <a:srgbClr val="6544AF"/>
          </a:solidFill>
          <a:ln w="12700">
            <a:solidFill>
              <a:srgbClr val="6544A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944368" y="1371600"/>
            <a:ext cx="16093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Vite · Tailwind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Cloudflare Pages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754880" y="1737360"/>
            <a:ext cx="365760" cy="274320"/>
          </a:xfrm>
          <a:prstGeom prst="rightArrow">
            <a:avLst/>
          </a:prstGeom>
          <a:solidFill>
            <a:srgbClr val="C9BFE8"/>
          </a:solidFill>
          <a:ln w="12700">
            <a:solidFill>
              <a:srgbClr val="C9BF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212080" y="1371600"/>
            <a:ext cx="1828800" cy="1005840"/>
          </a:xfrm>
          <a:prstGeom prst="roundRect">
            <a:avLst>
              <a:gd name="adj" fmla="val 9091"/>
            </a:avLst>
          </a:prstGeom>
          <a:solidFill>
            <a:srgbClr val="3F2A78"/>
          </a:solidFill>
          <a:ln w="12700">
            <a:solidFill>
              <a:srgbClr val="3F2A7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321808" y="1371600"/>
            <a:ext cx="16093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REST API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NestJS · TypeScript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RBAC guard · audit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132320" y="1737360"/>
            <a:ext cx="365760" cy="274320"/>
          </a:xfrm>
          <a:prstGeom prst="rightArrow">
            <a:avLst/>
          </a:prstGeom>
          <a:solidFill>
            <a:srgbClr val="C9BFE8"/>
          </a:solidFill>
          <a:ln w="12700">
            <a:solidFill>
              <a:srgbClr val="C9BFE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589520" y="1371600"/>
            <a:ext cx="1005840" cy="1005840"/>
          </a:xfrm>
          <a:prstGeom prst="roundRect">
            <a:avLst>
              <a:gd name="adj" fmla="val 9091"/>
            </a:avLst>
          </a:prstGeom>
          <a:solidFill>
            <a:srgbClr val="8F7BCB"/>
          </a:solidFill>
          <a:ln w="12700">
            <a:solidFill>
              <a:srgbClr val="8F7BC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99248" y="1371600"/>
            <a:ext cx="7863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čisté SQL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better-sqlite3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212080" y="2926080"/>
            <a:ext cx="1828800" cy="914400"/>
          </a:xfrm>
          <a:prstGeom prst="roundRect">
            <a:avLst>
              <a:gd name="adj" fmla="val 10000"/>
            </a:avLst>
          </a:prstGeom>
          <a:solidFill>
            <a:srgbClr val="E24D8D"/>
          </a:solidFill>
          <a:ln w="12700">
            <a:solidFill>
              <a:srgbClr val="E24D8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321808" y="2926080"/>
            <a:ext cx="16093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nástroje pro AI agenty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SSE · jen loopback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589520" y="2926080"/>
            <a:ext cx="1005840" cy="914400"/>
          </a:xfrm>
          <a:prstGeom prst="roundRect">
            <a:avLst>
              <a:gd name="adj" fmla="val 10000"/>
            </a:avLst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699248" y="2926080"/>
            <a:ext cx="7863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Gemini, OpenAI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7132320" y="3246120"/>
            <a:ext cx="365760" cy="274320"/>
          </a:xfrm>
          <a:prstGeom prst="rightArrow">
            <a:avLst/>
          </a:prstGeom>
          <a:solidFill>
            <a:srgbClr val="C9BFE8"/>
          </a:solidFill>
          <a:ln w="12700">
            <a:solidFill>
              <a:srgbClr val="C9BF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126480" y="2377440"/>
            <a:ext cx="0" cy="548640"/>
          </a:xfrm>
          <a:prstGeom prst="line">
            <a:avLst/>
          </a:prstGeom>
          <a:noFill/>
          <a:ln w="25400">
            <a:solidFill>
              <a:srgbClr val="C9BFE8"/>
            </a:solidFill>
            <a:prstDash val="dash"/>
          </a:ln>
        </p:spPr>
      </p:sp>
      <p:sp>
        <p:nvSpPr>
          <p:cNvPr id="20" name="Text 18"/>
          <p:cNvSpPr txBox="1"/>
          <p:nvPr/>
        </p:nvSpPr>
        <p:spPr>
          <a:xfrm>
            <a:off x="548640" y="292608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Vrstva AI je záměrně mimo jádro – žák vidí, že AI je oddělená služba s vymezenými oprávněními, ne kouzelná část databáze.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39319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Monorepo: backend, frontend i MCP na jednom místě – čitelné pro SŠ</a:t>
            </a:r>
            <a:endParaRPr lang="en-US" sz="10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Multitenance: jedna instance, libovolně škol, izolovaná data</a:t>
            </a:r>
            <a:endParaRPr lang="en-US" sz="10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Nasazení: cloud (Fly.io + Cloudflare) i lokální běh bez internetu</a:t>
            </a:r>
            <a:endParaRPr lang="en-US" sz="10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Bezpečnost: hesla Argon2, citlivé sloupce šifrované, SSO Google/GitHub/Microsoft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Stack IS · Obhajoba bakalářské práce · Petr Vích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81381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Ověření ve výuce: 9. třída, 16 žáků, jedna hodina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zástupce ředitele a učitel · tři pracovní listy (matrika, rozvrh, AI asistent) · dotazník + řízená diskuse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6544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16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774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vysvětlilo (aspoň částečně), proč žák nevidí stejná data jako učitel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606040" y="160020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E24D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16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2606040" y="23774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chce v systému pracovat i v dalších hodinách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663440" y="160020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9,5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4663440" y="23774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medián hodnocení vzhledu (škála 1–10)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720840" y="160020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CAF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9,0</a:t>
            </a:r>
            <a:endParaRPr lang="en-US" sz="4400" dirty="0"/>
          </a:p>
        </p:txBody>
      </p:sp>
      <p:sp>
        <p:nvSpPr>
          <p:cNvPr id="11" name="Text 9"/>
          <p:cNvSpPr txBox="1"/>
          <p:nvPr/>
        </p:nvSpPr>
        <p:spPr>
          <a:xfrm>
            <a:off x="6720840" y="23774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medián snadnosti ovládání (škála 1–10)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200400"/>
            <a:ext cx="3931920" cy="1417320"/>
          </a:xfrm>
          <a:prstGeom prst="roundRect">
            <a:avLst>
              <a:gd name="adj" fmla="val 7742"/>
            </a:avLst>
          </a:prstGeom>
          <a:solidFill>
            <a:srgbClr val="F1EDFA"/>
          </a:solidFill>
          <a:ln w="12700">
            <a:solidFill>
              <a:srgbClr val="F1EDF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13232" y="3310128"/>
            <a:ext cx="3602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 žáky bavilo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3703320"/>
            <a:ext cx="36027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Známky (8 zmínek) a AI asistent (6) – „učesání“ slovního hodnocení bylo nejatraktivnější a zároveň otevřelo češtinu i etiku.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663440" y="3200400"/>
            <a:ext cx="3931920" cy="1417320"/>
          </a:xfrm>
          <a:prstGeom prst="roundRect">
            <a:avLst>
              <a:gd name="adj" fmla="val 7742"/>
            </a:avLst>
          </a:prstGeom>
          <a:solidFill>
            <a:srgbClr val="F1EDFA"/>
          </a:solidFill>
          <a:ln w="12700">
            <a:solidFill>
              <a:srgbClr val="F1EDF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828032" y="3310128"/>
            <a:ext cx="3602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 se ukázalo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828032" y="3703320"/>
            <a:ext cx="36027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žáků se přihlásilo hned; žádný pád systému; dva věcné podněty (editace hodnocení, signalizace čekání na AI); jedna protestní odpověď v datech ponechána.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Stack IS · Obhajoba bakalářské práce · Petr Vích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81381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F2A7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Zkušenost z hodiny – pohled začínajícího učitele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BF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Mentoroval jsem dospělé, roky vedl oddíl ve skautu – ale hodina s deváťáky byla moje první výuka dětí ve škole.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931920" cy="1234440"/>
          </a:xfrm>
          <a:prstGeom prst="roundRect">
            <a:avLst>
              <a:gd name="adj" fmla="val 7407"/>
            </a:avLst>
          </a:prstGeom>
          <a:solidFill>
            <a:srgbClr val="51398F"/>
          </a:solidFill>
          <a:ln w="12700">
            <a:solidFill>
              <a:srgbClr val="51398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901952"/>
            <a:ext cx="3611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Systém plní, k čemu byl navržen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6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žáci se přihlásili, pracovali s matrikou, známkami i AI a v diskusi vysvětlili oprávnění.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663440" y="1828800"/>
            <a:ext cx="3931920" cy="1234440"/>
          </a:xfrm>
          <a:prstGeom prst="roundRect">
            <a:avLst>
              <a:gd name="adj" fmla="val 7407"/>
            </a:avLst>
          </a:prstGeom>
          <a:solidFill>
            <a:srgbClr val="51398F"/>
          </a:solidFill>
          <a:ln w="12700">
            <a:solidFill>
              <a:srgbClr val="51398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28032" y="1901952"/>
            <a:ext cx="3611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Jedna hodina nestačí na plný potenciál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6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třída na tento styl práce není zvyklá; víc času zabralo vysvětlování než samotné úlohy.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3200400"/>
            <a:ext cx="3931920" cy="1234440"/>
          </a:xfrm>
          <a:prstGeom prst="roundRect">
            <a:avLst>
              <a:gd name="adj" fmla="val 7407"/>
            </a:avLst>
          </a:prstGeom>
          <a:solidFill>
            <a:srgbClr val="51398F"/>
          </a:solidFill>
          <a:ln w="12700">
            <a:solidFill>
              <a:srgbClr val="51398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3232" y="3273552"/>
            <a:ext cx="3611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Žáci se báli klikat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6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obava „abych něco nezkazil“ všechno protahovala – přesně to, co má sandbox odbourat. Chce to čas a opakování.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663440" y="3200400"/>
            <a:ext cx="3931920" cy="1234440"/>
          </a:xfrm>
          <a:prstGeom prst="roundRect">
            <a:avLst>
              <a:gd name="adj" fmla="val 7407"/>
            </a:avLst>
          </a:prstGeom>
          <a:solidFill>
            <a:srgbClr val="51398F"/>
          </a:solidFill>
          <a:ln w="12700">
            <a:solidFill>
              <a:srgbClr val="51398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28032" y="3273552"/>
            <a:ext cx="3611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Poučení pro metodiku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6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začít kratší úvodní hodinou o principu sandboxu, úlohy 2. listu (rozvrh) přesunout do další hodiny.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9BF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Stack IS · Obhajoba bakalářské práce · Petr Vích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81381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BF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Závěr</a:t>
            </a:r>
            <a:endParaRPr lang="en-US" sz="3000" dirty="0"/>
          </a:p>
        </p:txBody>
      </p:sp>
      <p:pic>
        <p:nvPicPr>
          <p:cNvPr id="3" name="Image 0" descr="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1188720"/>
            <a:ext cx="1737360" cy="213969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1188720"/>
            <a:ext cx="59436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Vymezena nová kategorie: edukační IS – doménově věrný, otevřený, sandboxový, vícevrstvý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Funkční prototyp Edu Stack IS + tři pracovní listy s klíčem pro učitele + dotazníky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Pilotáž potvrdila: prožitek role vede k pochopení oprávnění; simulace je srozumitelná a motivační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Další rozvoj: pilotáže na SŠ a 1. stupni, více škol, listy k bezpečnosti a GDPR, mobilní rozhraní, komunita učitelů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Kód je otevřený na GitHubu (github.com/edustack-is), k systému vznikl doprovodný web is-edustack.org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548640" y="3794760"/>
            <a:ext cx="8046720" cy="777240"/>
          </a:xfrm>
          <a:prstGeom prst="roundRect">
            <a:avLst>
              <a:gd name="adj" fmla="val 11765"/>
            </a:avLst>
          </a:prstGeom>
          <a:solidFill>
            <a:srgbClr val="3F2A78"/>
          </a:solidFill>
          <a:ln w="12700">
            <a:solidFill>
              <a:srgbClr val="3F2A7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3794760"/>
            <a:ext cx="7680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Děkuji za pozornost. Informační systém nemusí být ve škole jen administrativní nutnost – může být pomůckou, na které si žák digitální svět sám postaví.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Stack IS · Obhajoba bakalářské práce · Petr Vích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81381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Limity práce a reakce na posudky</a:t>
            </a:r>
            <a:r>
              <a:rPr lang="en-US" sz="1400" b="0" dirty="0">
                <a:solidFill>
                  <a:srgbClr val="6B6680"/>
                </a:solidFill>
                <a:latin typeface="Calibri" pitchFamily="34" charset="0"/>
              </a:rPr>
              <a:t xml:space="preserve">  · doplňující slide k diskusi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3931920" cy="1645920"/>
          </a:xfrm>
          <a:prstGeom prst="roundRect">
            <a:avLst>
              <a:gd name="adj" fmla="val 5556"/>
            </a:avLst>
          </a:prstGeom>
          <a:solidFill>
            <a:srgbClr val="F1EDFA"/>
          </a:solidFill>
          <a:ln w="12700">
            <a:solidFill>
              <a:srgbClr val="F1EDF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13232" y="1234440"/>
            <a:ext cx="3611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Ověření jen na 2. stupni ZŠ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SŠ a 1. stupeň zůstaly neověřeny. Návrh: SŠ pilotáž se 3. listem na odborné škole (ER diagram, API), 1. stupeň zkrácený list „role jako pohled“; přesný popis vzorku a podmínek.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663440" y="1143000"/>
            <a:ext cx="3931920" cy="1645920"/>
          </a:xfrm>
          <a:prstGeom prst="roundRect">
            <a:avLst>
              <a:gd name="adj" fmla="val 5556"/>
            </a:avLst>
          </a:prstGeom>
          <a:solidFill>
            <a:srgbClr val="F1EDFA"/>
          </a:solidFill>
          <a:ln w="12700">
            <a:solidFill>
              <a:srgbClr val="F1EDF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828032" y="1234440"/>
            <a:ext cx="3611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Kurikulární analýza a rešerše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Práce staví hlavně na RVP ZV; RVP G a SOV nejsou rozebrány samostatně a mapování materiálů má typologický charakter. Beru jako podnět pro rozšíření.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926080"/>
            <a:ext cx="3931920" cy="1645920"/>
          </a:xfrm>
          <a:prstGeom prst="roundRect">
            <a:avLst>
              <a:gd name="adj" fmla="val 5556"/>
            </a:avLst>
          </a:prstGeom>
          <a:solidFill>
            <a:srgbClr val="F1EDFA"/>
          </a:solidFill>
          <a:ln w="12700">
            <a:solidFill>
              <a:srgbClr val="F1ED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13232" y="3017520"/>
            <a:ext cx="3611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Dotazník „standardizovaný“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Přesnější je vlastní strukturovaný dotazník; pedagogický dotazník byl připraven, jeho výsledky nejsou v práci prezentovány.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663440" y="2926080"/>
            <a:ext cx="3931920" cy="1645920"/>
          </a:xfrm>
          <a:prstGeom prst="roundRect">
            <a:avLst>
              <a:gd name="adj" fmla="val 5556"/>
            </a:avLst>
          </a:prstGeom>
          <a:solidFill>
            <a:srgbClr val="F1EDFA"/>
          </a:solidFill>
          <a:ln w="12700">
            <a:solidFill>
              <a:srgbClr val="F1EDF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28032" y="3017520"/>
            <a:ext cx="3611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Rozpor v popisu MCP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Autorizace je vynucována v backendu: každý MCP nástroj volá REST API s oprávněními uživatele dané AI relace; samotná MCP vrstva guard neobsahuje. Formulaci v klíči listu je třeba sjednotit.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Stack IS · Obhajoba bakalářské práce · Petr Vích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81381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Jeden nástroj pro všechny fáze učení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 se žák naučí o informačním systému v různých výukových nástrojích – a proč záleží na tom, že je to jeden nástroj.</a:t>
            </a:r>
            <a:endParaRPr lang="en-US" sz="1300" dirty="0"/>
          </a:p>
        </p:txBody>
      </p:sp>
      <p:sp>
        <p:nvSpPr>
          <p:cNvPr id="201" name="Shape 201"/>
          <p:cNvSpPr/>
          <p:nvPr/>
        </p:nvSpPr>
        <p:spPr>
          <a:xfrm>
            <a:off x="6858000" y="1463040"/>
            <a:ext cx="1737360" cy="2313432"/>
          </a:xfrm>
          <a:prstGeom prst="rect">
            <a:avLst>
              <a:gd name="adj" fmla="val 8000"/>
            </a:avLst>
          </a:prstGeom>
          <a:solidFill>
            <a:srgbClr val="F1EDFA"/>
          </a:solidFill>
          <a:ln>
            <a:noFill/>
          </a:ln>
        </p:spPr>
      </p:sp>
      <p:sp>
        <p:nvSpPr>
          <p:cNvPr id="202" name="Shape 202"/>
          <p:cNvSpPr/>
          <p:nvPr/>
        </p:nvSpPr>
        <p:spPr>
          <a:xfrm>
            <a:off x="6858000" y="1463040"/>
            <a:ext cx="1737360" cy="457200"/>
          </a:xfrm>
          <a:prstGeom prst="rect">
            <a:avLst>
              <a:gd name="adj" fmla="val 8000"/>
            </a:avLst>
          </a:prstGeom>
          <a:solidFill>
            <a:srgbClr val="3F2A78"/>
          </a:solidFill>
          <a:ln>
            <a:noFill/>
          </a:ln>
        </p:spPr>
      </p:sp>
      <p:sp>
        <p:nvSpPr>
          <p:cNvPr id="203" name="Text 203"/>
          <p:cNvSpPr txBox="1"/>
          <p:nvPr/>
        </p:nvSpPr>
        <p:spPr>
          <a:xfrm>
            <a:off x="3383280" y="1463040"/>
            <a:ext cx="1737360" cy="457200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b"/>
          <a:lstStyle/>
          <a:p>
            <a:pPr algn="ctr" indent="0" marL="0">
              <a:buNone/>
            </a:pPr>
            <a:r>
              <a:rPr lang="cs-CZ" sz="10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Drag-and-drop programování</a:t>
            </a:r>
          </a:p>
          <a:p>
            <a:pPr algn="ctr" indent="0" marL="0">
              <a:buNone/>
            </a:pPr>
            <a:r>
              <a:rPr lang="cs-CZ" sz="800" i="1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Scratch, Umíme to</a:t>
            </a:r>
          </a:p>
        </p:txBody>
      </p:sp>
      <p:sp>
        <p:nvSpPr>
          <p:cNvPr id="204" name="Text 204"/>
          <p:cNvSpPr txBox="1"/>
          <p:nvPr/>
        </p:nvSpPr>
        <p:spPr>
          <a:xfrm>
            <a:off x="5120640" y="1463040"/>
            <a:ext cx="1737360" cy="457200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b"/>
          <a:lstStyle/>
          <a:p>
            <a:pPr algn="ctr" indent="0" marL="0">
              <a:buNone/>
            </a:pPr>
            <a:r>
              <a:rPr lang="cs-CZ" sz="10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Modelátory databází</a:t>
            </a:r>
          </a:p>
          <a:p>
            <a:pPr algn="ctr" indent="0" marL="0">
              <a:buNone/>
            </a:pPr>
            <a:r>
              <a:rPr lang="cs-CZ" sz="800" i="1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Airtable, Notion, Coda</a:t>
            </a:r>
          </a:p>
        </p:txBody>
      </p:sp>
      <p:sp>
        <p:nvSpPr>
          <p:cNvPr id="205" name="Text 205"/>
          <p:cNvSpPr txBox="1"/>
          <p:nvPr/>
        </p:nvSpPr>
        <p:spPr>
          <a:xfrm>
            <a:off x="6858000" y="1463040"/>
            <a:ext cx="1737360" cy="457200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b"/>
          <a:lstStyle/>
          <a:p>
            <a:pPr algn="ctr" indent="0" marL="0">
              <a:buNone/>
            </a:pPr>
            <a:r>
              <a:rPr lang="cs-CZ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Stack IS</a:t>
            </a:r>
          </a:p>
          <a:p>
            <a:pPr algn="ctr" indent="0" marL="0">
              <a:buNone/>
            </a:pPr>
            <a:r>
              <a:rPr lang="cs-CZ" sz="800" i="1" dirty="0">
                <a:solidFill>
                  <a:srgbClr val="C9BF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edukační IS</a:t>
            </a:r>
          </a:p>
        </p:txBody>
      </p:sp>
      <p:cxnSp>
        <p:nvCxnSpPr>
          <p:cNvPr id="206" name="Line 206"/>
          <p:cNvCxnSpPr/>
          <p:nvPr/>
        </p:nvCxnSpPr>
        <p:spPr>
          <a:xfrm>
            <a:off x="548640" y="1920240"/>
            <a:ext cx="8046720" cy="0"/>
          </a:xfrm>
          <a:prstGeom prst="line">
            <a:avLst/>
          </a:prstGeom>
          <a:ln w="6350">
            <a:solidFill>
              <a:srgbClr val="E4DFF2"/>
            </a:solidFill>
          </a:ln>
        </p:spPr>
      </p:cxnSp>
      <p:sp>
        <p:nvSpPr>
          <p:cNvPr id="207" name="Text 207"/>
          <p:cNvSpPr txBox="1"/>
          <p:nvPr/>
        </p:nvSpPr>
        <p:spPr>
          <a:xfrm>
            <a:off x="548640" y="1920240"/>
            <a:ext cx="2834640" cy="265176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ctr"/>
          <a:lstStyle/>
          <a:p>
            <a:pPr algn="l" indent="0" marL="0">
              <a:buNone/>
            </a:pPr>
            <a:r>
              <a:rPr lang="cs-CZ" sz="10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Doména školy (třídy, rozvrh, známky)</a:t>
            </a:r>
          </a:p>
        </p:txBody>
      </p:sp>
      <p:sp>
        <p:nvSpPr>
          <p:cNvPr id="208" name="Text 208"/>
          <p:cNvSpPr txBox="1"/>
          <p:nvPr/>
        </p:nvSpPr>
        <p:spPr>
          <a:xfrm>
            <a:off x="3383280" y="1920240"/>
            <a:ext cx="1737360" cy="265176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ctr"/>
          <a:lstStyle/>
          <a:p>
            <a:pPr algn="ctr" indent="0" marL="0">
              <a:buNone/>
            </a:pPr>
            <a:r>
              <a:rPr lang="cs-CZ" sz="1200" dirty="0">
                <a:solidFill>
                  <a:srgbClr val="B5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</a:p>
        </p:txBody>
      </p:sp>
      <p:sp>
        <p:nvSpPr>
          <p:cNvPr id="209" name="Text 209"/>
          <p:cNvSpPr txBox="1"/>
          <p:nvPr/>
        </p:nvSpPr>
        <p:spPr>
          <a:xfrm>
            <a:off x="5120640" y="1920240"/>
            <a:ext cx="1737360" cy="265176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ctr"/>
          <a:lstStyle/>
          <a:p>
            <a:pPr algn="ctr" indent="0" marL="0">
              <a:buNone/>
            </a:pPr>
            <a:r>
              <a:rPr lang="cs-CZ" sz="1200" dirty="0">
                <a:solidFill>
                  <a:srgbClr val="B5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</a:p>
        </p:txBody>
      </p:sp>
      <p:sp>
        <p:nvSpPr>
          <p:cNvPr id="210" name="Text 210"/>
          <p:cNvSpPr txBox="1"/>
          <p:nvPr/>
        </p:nvSpPr>
        <p:spPr>
          <a:xfrm>
            <a:off x="6858000" y="1920240"/>
            <a:ext cx="1737360" cy="265176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ctr"/>
          <a:lstStyle/>
          <a:p>
            <a:pPr algn="ctr" indent="0" marL="0">
              <a:buNone/>
            </a:pPr>
            <a:r>
              <a:rPr lang="cs-CZ" sz="1200" b="1" dirty="0">
                <a:solidFill>
                  <a:srgbClr val="4CAF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</a:p>
        </p:txBody>
      </p:sp>
      <p:cxnSp>
        <p:nvCxnSpPr>
          <p:cNvPr id="211" name="Line 211"/>
          <p:cNvCxnSpPr/>
          <p:nvPr/>
        </p:nvCxnSpPr>
        <p:spPr>
          <a:xfrm>
            <a:off x="548640" y="2185416"/>
            <a:ext cx="8046720" cy="0"/>
          </a:xfrm>
          <a:prstGeom prst="line">
            <a:avLst/>
          </a:prstGeom>
          <a:ln w="6350">
            <a:solidFill>
              <a:srgbClr val="E4DFF2"/>
            </a:solidFill>
          </a:ln>
        </p:spPr>
      </p:cxnSp>
      <p:sp>
        <p:nvSpPr>
          <p:cNvPr id="212" name="Text 212"/>
          <p:cNvSpPr txBox="1"/>
          <p:nvPr/>
        </p:nvSpPr>
        <p:spPr>
          <a:xfrm>
            <a:off x="548640" y="2185416"/>
            <a:ext cx="2834640" cy="265176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ctr"/>
          <a:lstStyle/>
          <a:p>
            <a:pPr algn="l" indent="0" marL="0">
              <a:buNone/>
            </a:pPr>
            <a:r>
              <a:rPr lang="cs-CZ" sz="10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a oprávnění (RBAC)</a:t>
            </a:r>
          </a:p>
        </p:txBody>
      </p:sp>
      <p:sp>
        <p:nvSpPr>
          <p:cNvPr id="213" name="Text 213"/>
          <p:cNvSpPr txBox="1"/>
          <p:nvPr/>
        </p:nvSpPr>
        <p:spPr>
          <a:xfrm>
            <a:off x="3383280" y="2185416"/>
            <a:ext cx="1737360" cy="265176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ctr"/>
          <a:lstStyle/>
          <a:p>
            <a:pPr algn="ctr" indent="0" marL="0">
              <a:buNone/>
            </a:pPr>
            <a:r>
              <a:rPr lang="cs-CZ" sz="1200" dirty="0">
                <a:solidFill>
                  <a:srgbClr val="B5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</a:p>
        </p:txBody>
      </p:sp>
      <p:sp>
        <p:nvSpPr>
          <p:cNvPr id="214" name="Text 214"/>
          <p:cNvSpPr txBox="1"/>
          <p:nvPr/>
        </p:nvSpPr>
        <p:spPr>
          <a:xfrm>
            <a:off x="5120640" y="2185416"/>
            <a:ext cx="1737360" cy="265176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ctr"/>
          <a:lstStyle/>
          <a:p>
            <a:pPr algn="ctr" indent="0" marL="0">
              <a:buNone/>
            </a:pPr>
            <a:r>
              <a:rPr lang="cs-CZ" sz="1000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částečně</a:t>
            </a:r>
          </a:p>
        </p:txBody>
      </p:sp>
      <p:sp>
        <p:nvSpPr>
          <p:cNvPr id="215" name="Text 215"/>
          <p:cNvSpPr txBox="1"/>
          <p:nvPr/>
        </p:nvSpPr>
        <p:spPr>
          <a:xfrm>
            <a:off x="6858000" y="2185416"/>
            <a:ext cx="1737360" cy="265176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ctr"/>
          <a:lstStyle/>
          <a:p>
            <a:pPr algn="ctr" indent="0" marL="0">
              <a:buNone/>
            </a:pPr>
            <a:r>
              <a:rPr lang="cs-CZ" sz="1200" b="1" dirty="0">
                <a:solidFill>
                  <a:srgbClr val="4CAF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</a:p>
        </p:txBody>
      </p:sp>
      <p:cxnSp>
        <p:nvCxnSpPr>
          <p:cNvPr id="216" name="Line 216"/>
          <p:cNvCxnSpPr/>
          <p:nvPr/>
        </p:nvCxnSpPr>
        <p:spPr>
          <a:xfrm>
            <a:off x="548640" y="2450592"/>
            <a:ext cx="8046720" cy="0"/>
          </a:xfrm>
          <a:prstGeom prst="line">
            <a:avLst/>
          </a:prstGeom>
          <a:ln w="6350">
            <a:solidFill>
              <a:srgbClr val="E4DFF2"/>
            </a:solidFill>
          </a:ln>
        </p:spPr>
      </p:cxnSp>
      <p:sp>
        <p:nvSpPr>
          <p:cNvPr id="217" name="Text 217"/>
          <p:cNvSpPr txBox="1"/>
          <p:nvPr/>
        </p:nvSpPr>
        <p:spPr>
          <a:xfrm>
            <a:off x="548640" y="2450592"/>
            <a:ext cx="2834640" cy="265176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ctr"/>
          <a:lstStyle/>
          <a:p>
            <a:pPr algn="l" indent="0" marL="0">
              <a:buNone/>
            </a:pPr>
            <a:r>
              <a:rPr lang="cs-CZ" sz="10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Viditelný datový model</a:t>
            </a:r>
          </a:p>
        </p:txBody>
      </p:sp>
      <p:sp>
        <p:nvSpPr>
          <p:cNvPr id="218" name="Text 218"/>
          <p:cNvSpPr txBox="1"/>
          <p:nvPr/>
        </p:nvSpPr>
        <p:spPr>
          <a:xfrm>
            <a:off x="3383280" y="2450592"/>
            <a:ext cx="1737360" cy="265176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ctr"/>
          <a:lstStyle/>
          <a:p>
            <a:pPr algn="ctr" indent="0" marL="0">
              <a:buNone/>
            </a:pPr>
            <a:r>
              <a:rPr lang="cs-CZ" sz="1200" dirty="0">
                <a:solidFill>
                  <a:srgbClr val="B5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</a:t>
            </a:r>
          </a:p>
        </p:txBody>
      </p:sp>
      <p:sp>
        <p:nvSpPr>
          <p:cNvPr id="219" name="Text 219"/>
          <p:cNvSpPr txBox="1"/>
          <p:nvPr/>
        </p:nvSpPr>
        <p:spPr>
          <a:xfrm>
            <a:off x="5120640" y="2450592"/>
            <a:ext cx="1737360" cy="265176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ctr"/>
          <a:lstStyle/>
          <a:p>
            <a:pPr algn="ctr" indent="0" marL="0">
              <a:buNone/>
            </a:pPr>
            <a:r>
              <a:rPr lang="cs-CZ" sz="1200" b="1" dirty="0">
                <a:solidFill>
                  <a:srgbClr val="4CAF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</a:p>
        </p:txBody>
      </p:sp>
      <p:sp>
        <p:nvSpPr>
          <p:cNvPr id="220" name="Text 220"/>
          <p:cNvSpPr txBox="1"/>
          <p:nvPr/>
        </p:nvSpPr>
        <p:spPr>
          <a:xfrm>
            <a:off x="6858000" y="2450592"/>
            <a:ext cx="1737360" cy="265176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ctr"/>
          <a:lstStyle/>
          <a:p>
            <a:pPr algn="ctr" indent="0" marL="0">
              <a:buNone/>
            </a:pPr>
            <a:r>
              <a:rPr lang="cs-CZ" sz="1200" b="1" dirty="0">
                <a:solidFill>
                  <a:srgbClr val="4CAF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</a:p>
        </p:txBody>
      </p:sp>
      <p:cxnSp>
        <p:nvCxnSpPr>
          <p:cNvPr id="221" name="Line 221"/>
          <p:cNvCxnSpPr/>
          <p:nvPr/>
        </p:nvCxnSpPr>
        <p:spPr>
          <a:xfrm>
            <a:off x="548640" y="2715768"/>
            <a:ext cx="8046720" cy="0"/>
          </a:xfrm>
          <a:prstGeom prst="line">
            <a:avLst/>
          </a:prstGeom>
          <a:ln w="6350">
            <a:solidFill>
              <a:srgbClr val="E4DFF2"/>
            </a:solidFill>
          </a:ln>
        </p:spPr>
      </p:cxnSp>
      <p:sp>
        <p:nvSpPr>
          <p:cNvPr id="222" name="Text 222"/>
          <p:cNvSpPr txBox="1"/>
          <p:nvPr/>
        </p:nvSpPr>
        <p:spPr>
          <a:xfrm>
            <a:off x="548640" y="2715768"/>
            <a:ext cx="2834640" cy="265176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ctr"/>
          <a:lstStyle/>
          <a:p>
            <a:pPr algn="l" indent="0" marL="0">
              <a:buNone/>
            </a:pPr>
            <a:r>
              <a:rPr lang="cs-CZ" sz="10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Bezpečné experimentování s daty</a:t>
            </a:r>
          </a:p>
        </p:txBody>
      </p:sp>
      <p:sp>
        <p:nvSpPr>
          <p:cNvPr id="223" name="Text 223"/>
          <p:cNvSpPr txBox="1"/>
          <p:nvPr/>
        </p:nvSpPr>
        <p:spPr>
          <a:xfrm>
            <a:off x="3383280" y="2715768"/>
            <a:ext cx="1737360" cy="265176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ctr"/>
          <a:lstStyle/>
          <a:p>
            <a:pPr algn="ctr" indent="0" marL="0">
              <a:buNone/>
            </a:pPr>
            <a:r>
              <a:rPr lang="cs-CZ" sz="1200" b="1" dirty="0">
                <a:solidFill>
                  <a:srgbClr val="4CAF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</a:p>
        </p:txBody>
      </p:sp>
      <p:sp>
        <p:nvSpPr>
          <p:cNvPr id="224" name="Text 224"/>
          <p:cNvSpPr txBox="1"/>
          <p:nvPr/>
        </p:nvSpPr>
        <p:spPr>
          <a:xfrm>
            <a:off x="5120640" y="2715768"/>
            <a:ext cx="1737360" cy="265176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ctr"/>
          <a:lstStyle/>
          <a:p>
            <a:pPr algn="ctr" indent="0" marL="0">
              <a:buNone/>
            </a:pPr>
            <a:r>
              <a:rPr lang="cs-CZ" sz="1200" b="1" dirty="0">
                <a:solidFill>
                  <a:srgbClr val="4CAF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</a:p>
        </p:txBody>
      </p:sp>
      <p:sp>
        <p:nvSpPr>
          <p:cNvPr id="225" name="Text 225"/>
          <p:cNvSpPr txBox="1"/>
          <p:nvPr/>
        </p:nvSpPr>
        <p:spPr>
          <a:xfrm>
            <a:off x="6858000" y="2715768"/>
            <a:ext cx="1737360" cy="265176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ctr"/>
          <a:lstStyle/>
          <a:p>
            <a:pPr algn="ctr" indent="0" marL="0">
              <a:buNone/>
            </a:pPr>
            <a:r>
              <a:rPr lang="cs-CZ" sz="1200" b="1" dirty="0">
                <a:solidFill>
                  <a:srgbClr val="4CAF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</a:p>
        </p:txBody>
      </p:sp>
      <p:cxnSp>
        <p:nvCxnSpPr>
          <p:cNvPr id="226" name="Line 226"/>
          <p:cNvCxnSpPr/>
          <p:nvPr/>
        </p:nvCxnSpPr>
        <p:spPr>
          <a:xfrm>
            <a:off x="548640" y="2980944"/>
            <a:ext cx="8046720" cy="0"/>
          </a:xfrm>
          <a:prstGeom prst="line">
            <a:avLst/>
          </a:prstGeom>
          <a:ln w="6350">
            <a:solidFill>
              <a:srgbClr val="E4DFF2"/>
            </a:solidFill>
          </a:ln>
        </p:spPr>
      </p:cxnSp>
      <p:sp>
        <p:nvSpPr>
          <p:cNvPr id="227" name="Text 227"/>
          <p:cNvSpPr txBox="1"/>
          <p:nvPr/>
        </p:nvSpPr>
        <p:spPr>
          <a:xfrm>
            <a:off x="548640" y="2980944"/>
            <a:ext cx="2834640" cy="265176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ctr"/>
          <a:lstStyle/>
          <a:p>
            <a:pPr algn="l" indent="0" marL="0">
              <a:buNone/>
            </a:pPr>
            <a:r>
              <a:rPr lang="cs-CZ" sz="10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Otevřený kód</a:t>
            </a:r>
          </a:p>
        </p:txBody>
      </p:sp>
      <p:sp>
        <p:nvSpPr>
          <p:cNvPr id="228" name="Text 228"/>
          <p:cNvSpPr txBox="1"/>
          <p:nvPr/>
        </p:nvSpPr>
        <p:spPr>
          <a:xfrm>
            <a:off x="3383280" y="2980944"/>
            <a:ext cx="1737360" cy="265176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ctr"/>
          <a:lstStyle/>
          <a:p>
            <a:pPr algn="ctr" indent="0" marL="0">
              <a:buNone/>
            </a:pPr>
            <a:r>
              <a:rPr lang="cs-CZ" sz="1000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Scratch ano</a:t>
            </a:r>
          </a:p>
        </p:txBody>
      </p:sp>
      <p:sp>
        <p:nvSpPr>
          <p:cNvPr id="229" name="Text 229"/>
          <p:cNvSpPr txBox="1"/>
          <p:nvPr/>
        </p:nvSpPr>
        <p:spPr>
          <a:xfrm>
            <a:off x="5120640" y="2980944"/>
            <a:ext cx="1737360" cy="265176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ctr"/>
          <a:lstStyle/>
          <a:p>
            <a:pPr algn="ctr" indent="0" marL="0">
              <a:buNone/>
            </a:pPr>
            <a:r>
              <a:rPr lang="cs-CZ" sz="1000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částečně</a:t>
            </a:r>
          </a:p>
        </p:txBody>
      </p:sp>
      <p:sp>
        <p:nvSpPr>
          <p:cNvPr id="230" name="Text 230"/>
          <p:cNvSpPr txBox="1"/>
          <p:nvPr/>
        </p:nvSpPr>
        <p:spPr>
          <a:xfrm>
            <a:off x="6858000" y="2980944"/>
            <a:ext cx="1737360" cy="265176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ctr"/>
          <a:lstStyle/>
          <a:p>
            <a:pPr algn="ctr" indent="0" marL="0">
              <a:buNone/>
            </a:pPr>
            <a:r>
              <a:rPr lang="cs-CZ" sz="1200" b="1" dirty="0">
                <a:solidFill>
                  <a:srgbClr val="4CAF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</a:p>
        </p:txBody>
      </p:sp>
      <p:cxnSp>
        <p:nvCxnSpPr>
          <p:cNvPr id="231" name="Line 231"/>
          <p:cNvCxnSpPr/>
          <p:nvPr/>
        </p:nvCxnSpPr>
        <p:spPr>
          <a:xfrm>
            <a:off x="548640" y="3246120"/>
            <a:ext cx="8046720" cy="0"/>
          </a:xfrm>
          <a:prstGeom prst="line">
            <a:avLst/>
          </a:prstGeom>
          <a:ln w="6350">
            <a:solidFill>
              <a:srgbClr val="E4DFF2"/>
            </a:solidFill>
          </a:ln>
        </p:spPr>
      </p:cxnSp>
      <p:sp>
        <p:nvSpPr>
          <p:cNvPr id="232" name="Text 232"/>
          <p:cNvSpPr txBox="1"/>
          <p:nvPr/>
        </p:nvSpPr>
        <p:spPr>
          <a:xfrm>
            <a:off x="548640" y="3246120"/>
            <a:ext cx="2834640" cy="265176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ctr"/>
          <a:lstStyle/>
          <a:p>
            <a:pPr algn="l" indent="0" marL="0">
              <a:buNone/>
            </a:pPr>
            <a:r>
              <a:rPr lang="cs-CZ" sz="10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Blok „Informační systémy“ v RVP</a:t>
            </a:r>
          </a:p>
        </p:txBody>
      </p:sp>
      <p:sp>
        <p:nvSpPr>
          <p:cNvPr id="233" name="Text 233"/>
          <p:cNvSpPr txBox="1"/>
          <p:nvPr/>
        </p:nvSpPr>
        <p:spPr>
          <a:xfrm>
            <a:off x="3383280" y="3246120"/>
            <a:ext cx="1737360" cy="265176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ctr"/>
          <a:lstStyle/>
          <a:p>
            <a:pPr algn="ctr" indent="0" marL="0">
              <a:buNone/>
            </a:pPr>
            <a:r>
              <a:rPr lang="cs-CZ" sz="1000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okrajově</a:t>
            </a:r>
          </a:p>
        </p:txBody>
      </p:sp>
      <p:sp>
        <p:nvSpPr>
          <p:cNvPr id="234" name="Text 234"/>
          <p:cNvSpPr txBox="1"/>
          <p:nvPr/>
        </p:nvSpPr>
        <p:spPr>
          <a:xfrm>
            <a:off x="5120640" y="3246120"/>
            <a:ext cx="1737360" cy="265176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ctr"/>
          <a:lstStyle/>
          <a:p>
            <a:pPr algn="ctr" indent="0" marL="0">
              <a:buNone/>
            </a:pPr>
            <a:r>
              <a:rPr lang="cs-CZ" sz="1000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částečně</a:t>
            </a:r>
          </a:p>
        </p:txBody>
      </p:sp>
      <p:sp>
        <p:nvSpPr>
          <p:cNvPr id="235" name="Text 235"/>
          <p:cNvSpPr txBox="1"/>
          <p:nvPr/>
        </p:nvSpPr>
        <p:spPr>
          <a:xfrm>
            <a:off x="6858000" y="3246120"/>
            <a:ext cx="1737360" cy="265176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ctr"/>
          <a:lstStyle/>
          <a:p>
            <a:pPr algn="ctr" indent="0" marL="0">
              <a:buNone/>
            </a:pPr>
            <a:r>
              <a:rPr lang="cs-CZ" sz="1000" b="1" dirty="0">
                <a:solidFill>
                  <a:srgbClr val="4CAF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přímo</a:t>
            </a:r>
          </a:p>
        </p:txBody>
      </p:sp>
      <p:cxnSp>
        <p:nvCxnSpPr>
          <p:cNvPr id="236" name="Line 236"/>
          <p:cNvCxnSpPr/>
          <p:nvPr/>
        </p:nvCxnSpPr>
        <p:spPr>
          <a:xfrm>
            <a:off x="548640" y="3511296"/>
            <a:ext cx="8046720" cy="0"/>
          </a:xfrm>
          <a:prstGeom prst="line">
            <a:avLst/>
          </a:prstGeom>
          <a:ln w="6350">
            <a:solidFill>
              <a:srgbClr val="E4DFF2"/>
            </a:solidFill>
          </a:ln>
        </p:spPr>
      </p:cxnSp>
      <p:sp>
        <p:nvSpPr>
          <p:cNvPr id="237" name="Text 237"/>
          <p:cNvSpPr txBox="1"/>
          <p:nvPr/>
        </p:nvSpPr>
        <p:spPr>
          <a:xfrm>
            <a:off x="548640" y="3511296"/>
            <a:ext cx="2834640" cy="265176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ctr"/>
          <a:lstStyle/>
          <a:p>
            <a:pPr algn="l" indent="0" marL="0">
              <a:buNone/>
            </a:pPr>
            <a:r>
              <a:rPr lang="cs-CZ" sz="10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Uživatel → správce → spolutvůrce v jednom prostředí</a:t>
            </a:r>
          </a:p>
        </p:txBody>
      </p:sp>
      <p:sp>
        <p:nvSpPr>
          <p:cNvPr id="238" name="Text 238"/>
          <p:cNvSpPr txBox="1"/>
          <p:nvPr/>
        </p:nvSpPr>
        <p:spPr>
          <a:xfrm>
            <a:off x="3383280" y="3511296"/>
            <a:ext cx="1737360" cy="265176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ctr"/>
          <a:lstStyle/>
          <a:p>
            <a:pPr algn="ctr" indent="0" marL="0">
              <a:buNone/>
            </a:pPr>
            <a:r>
              <a:rPr lang="cs-CZ" sz="1200" dirty="0">
                <a:solidFill>
                  <a:srgbClr val="B5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</a:p>
        </p:txBody>
      </p:sp>
      <p:sp>
        <p:nvSpPr>
          <p:cNvPr id="239" name="Text 239"/>
          <p:cNvSpPr txBox="1"/>
          <p:nvPr/>
        </p:nvSpPr>
        <p:spPr>
          <a:xfrm>
            <a:off x="5120640" y="3511296"/>
            <a:ext cx="1737360" cy="265176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ctr"/>
          <a:lstStyle/>
          <a:p>
            <a:pPr algn="ctr" indent="0" marL="0">
              <a:buNone/>
            </a:pPr>
            <a:r>
              <a:rPr lang="cs-CZ" sz="1000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částečně</a:t>
            </a:r>
          </a:p>
        </p:txBody>
      </p:sp>
      <p:sp>
        <p:nvSpPr>
          <p:cNvPr id="240" name="Text 240"/>
          <p:cNvSpPr txBox="1"/>
          <p:nvPr/>
        </p:nvSpPr>
        <p:spPr>
          <a:xfrm>
            <a:off x="6858000" y="3511296"/>
            <a:ext cx="1737360" cy="265176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ctr"/>
          <a:lstStyle/>
          <a:p>
            <a:pPr algn="ctr" indent="0" marL="0">
              <a:buNone/>
            </a:pPr>
            <a:r>
              <a:rPr lang="cs-CZ" sz="1200" b="1" dirty="0">
                <a:solidFill>
                  <a:srgbClr val="4CAF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</a:p>
        </p:txBody>
      </p:sp>
      <p:sp>
        <p:nvSpPr>
          <p:cNvPr id="241" name="Shape 241"/>
          <p:cNvSpPr/>
          <p:nvPr/>
        </p:nvSpPr>
        <p:spPr>
          <a:xfrm>
            <a:off x="548640" y="3959352"/>
            <a:ext cx="2606040" cy="640080"/>
          </a:xfrm>
          <a:prstGeom prst="roundRect">
            <a:avLst>
              <a:gd name="adj" fmla="val 8000"/>
            </a:avLst>
          </a:prstGeom>
          <a:solidFill>
            <a:srgbClr val="F1EDFA"/>
          </a:solidFill>
          <a:ln>
            <a:noFill/>
          </a:ln>
        </p:spPr>
      </p:sp>
      <p:sp>
        <p:nvSpPr>
          <p:cNvPr id="242" name="Text 242"/>
          <p:cNvSpPr txBox="1"/>
          <p:nvPr/>
        </p:nvSpPr>
        <p:spPr>
          <a:xfrm>
            <a:off x="640080" y="4005072"/>
            <a:ext cx="2423160" cy="548640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ctr"/>
          <a:lstStyle/>
          <a:p>
            <a:pPr algn="l" indent="0" marL="0">
              <a:buNone/>
            </a:pPr>
            <a:r>
              <a:rPr lang="cs-CZ" sz="11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Jeden nástroj</a:t>
            </a:r>
          </a:p>
          <a:p>
            <a:pPr algn="l" indent="0" marL="0">
              <a:buNone/>
            </a:pPr>
            <a:r>
              <a:rPr lang="cs-CZ" sz="9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Tatáž škola, tytéž role a data ve všech fázích – od klikání po vlastní skript.</a:t>
            </a:r>
          </a:p>
        </p:txBody>
      </p:sp>
      <p:sp>
        <p:nvSpPr>
          <p:cNvPr id="243" name="Shape 243"/>
          <p:cNvSpPr/>
          <p:nvPr/>
        </p:nvSpPr>
        <p:spPr>
          <a:xfrm>
            <a:off x="3268980" y="3959352"/>
            <a:ext cx="2606040" cy="640080"/>
          </a:xfrm>
          <a:prstGeom prst="roundRect">
            <a:avLst>
              <a:gd name="adj" fmla="val 8000"/>
            </a:avLst>
          </a:prstGeom>
          <a:solidFill>
            <a:srgbClr val="F1EDFA"/>
          </a:solidFill>
          <a:ln>
            <a:noFill/>
          </a:ln>
        </p:spPr>
      </p:sp>
      <p:sp>
        <p:nvSpPr>
          <p:cNvPr id="244" name="Text 244"/>
          <p:cNvSpPr txBox="1"/>
          <p:nvPr/>
        </p:nvSpPr>
        <p:spPr>
          <a:xfrm>
            <a:off x="3360420" y="4005072"/>
            <a:ext cx="2423160" cy="548640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ctr"/>
          <a:lstStyle/>
          <a:p>
            <a:pPr algn="l" indent="0" marL="0">
              <a:buNone/>
            </a:pPr>
            <a:r>
              <a:rPr lang="cs-CZ" sz="11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Nižší kognitivní zátěž</a:t>
            </a:r>
          </a:p>
          <a:p>
            <a:pPr algn="l" indent="0" marL="0">
              <a:buNone/>
            </a:pPr>
            <a:r>
              <a:rPr lang="cs-CZ" sz="9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Žák se neučí v každé fázi nové prostředí, ale nový pohled na systém, který už zná.</a:t>
            </a:r>
          </a:p>
        </p:txBody>
      </p:sp>
      <p:sp>
        <p:nvSpPr>
          <p:cNvPr id="245" name="Shape 245"/>
          <p:cNvSpPr/>
          <p:nvPr/>
        </p:nvSpPr>
        <p:spPr>
          <a:xfrm>
            <a:off x="5989320" y="3959352"/>
            <a:ext cx="2606040" cy="640080"/>
          </a:xfrm>
          <a:prstGeom prst="roundRect">
            <a:avLst>
              <a:gd name="adj" fmla="val 8000"/>
            </a:avLst>
          </a:prstGeom>
          <a:solidFill>
            <a:srgbClr val="3F2A78"/>
          </a:solidFill>
          <a:ln>
            <a:noFill/>
          </a:ln>
        </p:spPr>
      </p:sp>
      <p:sp>
        <p:nvSpPr>
          <p:cNvPr id="246" name="Text 246"/>
          <p:cNvSpPr txBox="1"/>
          <p:nvPr/>
        </p:nvSpPr>
        <p:spPr>
          <a:xfrm>
            <a:off x="6080760" y="4005072"/>
            <a:ext cx="2423160" cy="548640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ctr"/>
          <a:lstStyle/>
          <a:p>
            <a:pPr algn="l" indent="0" marL="0">
              <a:buNone/>
            </a:pPr>
            <a:r>
              <a:rPr lang="cs-CZ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Více prostoru pro obsah</a:t>
            </a:r>
          </a:p>
          <a:p>
            <a:pPr algn="l" indent="0" marL="0">
              <a:buNone/>
            </a:pPr>
            <a:r>
              <a:rPr lang="cs-CZ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Čas ušetřený na ovládání zůstává na to podstatné: role, oprávnění, datové toky.</a:t>
            </a:r>
          </a:p>
        </p:txBody>
      </p:sp>
      <p:sp>
        <p:nvSpPr>
          <p:cNvPr id="16" name="Text 14"/>
          <p:cNvSpPr txBox="1"/>
          <p:nvPr/>
        </p:nvSpPr>
        <p:spPr>
          <a:xfrm>
            <a:off x="54864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Stack IS · Obhajoba bakalářské práce · Petr Vích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81381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Edu Stack IS – obhajoba bakalářské práce</dc:title>
  <dc:subject>PptxGenJS Presentation</dc:subject>
  <dc:creator>Petr Vích</dc:creator>
  <cp:lastModifiedBy>Petr Vích</cp:lastModifiedBy>
  <cp:revision>1</cp:revision>
  <dcterms:created xsi:type="dcterms:W3CDTF">2026-09-04T07:50:19Z</dcterms:created>
  <dcterms:modified xsi:type="dcterms:W3CDTF">2026-09-04T07:50:19Z</dcterms:modified>
</cp:coreProperties>
</file>